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7" r:id="rId10"/>
    <p:sldId id="267" r:id="rId11"/>
    <p:sldId id="268" r:id="rId12"/>
    <p:sldId id="269" r:id="rId13"/>
    <p:sldId id="279" r:id="rId14"/>
    <p:sldId id="265" r:id="rId15"/>
    <p:sldId id="280" r:id="rId16"/>
    <p:sldId id="270" r:id="rId17"/>
    <p:sldId id="272" r:id="rId18"/>
    <p:sldId id="274" r:id="rId19"/>
    <p:sldId id="273" r:id="rId20"/>
    <p:sldId id="275" r:id="rId21"/>
    <p:sldId id="276" r:id="rId2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9C2E21-012B-4C1F-84BE-4F8665C8A3DD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s-ES"/>
        </a:p>
      </dgm:t>
    </dgm:pt>
    <dgm:pt modelId="{CC305985-FC90-46B6-9B33-54A3D1A1125A}">
      <dgm:prSet/>
      <dgm:spPr/>
      <dgm:t>
        <a:bodyPr/>
        <a:lstStyle/>
        <a:p>
          <a:r>
            <a:rPr lang="es-ES" b="1" dirty="0">
              <a:latin typeface="Arial" panose="020B0604020202020204" pitchFamily="34" charset="0"/>
              <a:cs typeface="Arial" panose="020B0604020202020204" pitchFamily="34" charset="0"/>
            </a:rPr>
            <a:t>Adquisición</a:t>
          </a:r>
          <a:endParaRPr lang="es-E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6B11154-01CD-4E9F-A7F8-4244CB4906F6}" type="parTrans" cxnId="{0BE06749-A87C-4460-95AE-F9B0CEC4A313}">
      <dgm:prSet/>
      <dgm:spPr/>
      <dgm:t>
        <a:bodyPr/>
        <a:lstStyle/>
        <a:p>
          <a:endParaRPr lang="es-E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CEBF66D-7E9B-48A9-AF6C-9A1045C35852}" type="sibTrans" cxnId="{0BE06749-A87C-4460-95AE-F9B0CEC4A313}">
      <dgm:prSet/>
      <dgm:spPr/>
      <dgm:t>
        <a:bodyPr/>
        <a:lstStyle/>
        <a:p>
          <a:endParaRPr lang="es-E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7CF1803-36F5-48BA-B45B-CF415031E7C8}">
      <dgm:prSet/>
      <dgm:spPr/>
      <dgm:t>
        <a:bodyPr/>
        <a:lstStyle/>
        <a:p>
          <a:r>
            <a:rPr lang="es-ES" b="1" dirty="0">
              <a:latin typeface="Arial" panose="020B0604020202020204" pitchFamily="34" charset="0"/>
              <a:cs typeface="Arial" panose="020B0604020202020204" pitchFamily="34" charset="0"/>
            </a:rPr>
            <a:t>Chequeo</a:t>
          </a:r>
          <a:r>
            <a:rPr lang="es-E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s-ES" b="1" dirty="0">
              <a:latin typeface="Arial" panose="020B0604020202020204" pitchFamily="34" charset="0"/>
              <a:cs typeface="Arial" panose="020B0604020202020204" pitchFamily="34" charset="0"/>
            </a:rPr>
            <a:t>Codificación</a:t>
          </a:r>
          <a:endParaRPr lang="es-E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7B5B65B-4F8B-451E-9CC4-FF3B1C86C0BA}" type="parTrans" cxnId="{5AB5AF85-E463-41E2-8021-8684715099BB}">
      <dgm:prSet/>
      <dgm:spPr/>
      <dgm:t>
        <a:bodyPr/>
        <a:lstStyle/>
        <a:p>
          <a:endParaRPr lang="es-E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327EBEC-A3E3-484A-AC33-44B11F1A9A79}" type="sibTrans" cxnId="{5AB5AF85-E463-41E2-8021-8684715099BB}">
      <dgm:prSet/>
      <dgm:spPr/>
      <dgm:t>
        <a:bodyPr/>
        <a:lstStyle/>
        <a:p>
          <a:endParaRPr lang="es-E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956B67C-A803-4D62-A569-9A2820E0A92D}">
      <dgm:prSet/>
      <dgm:spPr/>
      <dgm:t>
        <a:bodyPr/>
        <a:lstStyle/>
        <a:p>
          <a:r>
            <a:rPr lang="es-ES" b="1" dirty="0">
              <a:latin typeface="Arial" panose="020B0604020202020204" pitchFamily="34" charset="0"/>
              <a:cs typeface="Arial" panose="020B0604020202020204" pitchFamily="34" charset="0"/>
            </a:rPr>
            <a:t>Limpieza / “Formato </a:t>
          </a:r>
          <a:r>
            <a:rPr lang="es-ES" b="1" dirty="0" err="1">
              <a:latin typeface="Arial" panose="020B0604020202020204" pitchFamily="34" charset="0"/>
              <a:cs typeface="Arial" panose="020B0604020202020204" pitchFamily="34" charset="0"/>
            </a:rPr>
            <a:t>Tidy</a:t>
          </a:r>
          <a:r>
            <a:rPr lang="es-ES" b="1" dirty="0">
              <a:latin typeface="Arial" panose="020B0604020202020204" pitchFamily="34" charset="0"/>
              <a:cs typeface="Arial" panose="020B0604020202020204" pitchFamily="34" charset="0"/>
            </a:rPr>
            <a:t>”</a:t>
          </a:r>
          <a:endParaRPr lang="es-E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481B606-174F-4A0D-BF4E-EE753AB8A282}" type="parTrans" cxnId="{0155163C-F17D-46A6-BDC1-823ECD1A5036}">
      <dgm:prSet/>
      <dgm:spPr/>
      <dgm:t>
        <a:bodyPr/>
        <a:lstStyle/>
        <a:p>
          <a:endParaRPr lang="es-E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977284F-87D5-461C-80A8-D970B734AF56}" type="sibTrans" cxnId="{0155163C-F17D-46A6-BDC1-823ECD1A5036}">
      <dgm:prSet/>
      <dgm:spPr/>
      <dgm:t>
        <a:bodyPr/>
        <a:lstStyle/>
        <a:p>
          <a:endParaRPr lang="es-E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6E59D41-4BD3-41B2-9394-025BCA090E28}">
      <dgm:prSet/>
      <dgm:spPr/>
      <dgm:t>
        <a:bodyPr/>
        <a:lstStyle/>
        <a:p>
          <a:r>
            <a:rPr lang="es-ES" b="1">
              <a:latin typeface="Arial" panose="020B0604020202020204" pitchFamily="34" charset="0"/>
              <a:cs typeface="Arial" panose="020B0604020202020204" pitchFamily="34" charset="0"/>
            </a:rPr>
            <a:t>Unión por años </a:t>
          </a:r>
          <a:r>
            <a:rPr lang="es-ES">
              <a:latin typeface="Arial" panose="020B0604020202020204" pitchFamily="34" charset="0"/>
              <a:cs typeface="Arial" panose="020B0604020202020204" pitchFamily="34" charset="0"/>
            </a:rPr>
            <a:t>(MSE, CSE, NS)</a:t>
          </a:r>
        </a:p>
      </dgm:t>
    </dgm:pt>
    <dgm:pt modelId="{92C932D3-7639-4A35-9123-B27D2B7D5361}" type="parTrans" cxnId="{C810D2D4-E1AD-4F70-8251-4F0B4CA3432D}">
      <dgm:prSet/>
      <dgm:spPr/>
      <dgm:t>
        <a:bodyPr/>
        <a:lstStyle/>
        <a:p>
          <a:endParaRPr lang="es-E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E4F4711-F91B-4BBF-8AC4-C4E5CF7902B8}" type="sibTrans" cxnId="{C810D2D4-E1AD-4F70-8251-4F0B4CA3432D}">
      <dgm:prSet/>
      <dgm:spPr/>
      <dgm:t>
        <a:bodyPr/>
        <a:lstStyle/>
        <a:p>
          <a:endParaRPr lang="es-E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EC4BC67-FF93-4E44-BD4C-979FA1998330}">
      <dgm:prSet/>
      <dgm:spPr/>
      <dgm:t>
        <a:bodyPr/>
        <a:lstStyle/>
        <a:p>
          <a:r>
            <a:rPr lang="es-ES" b="1">
              <a:latin typeface="Arial" panose="020B0604020202020204" pitchFamily="34" charset="0"/>
              <a:cs typeface="Arial" panose="020B0604020202020204" pitchFamily="34" charset="0"/>
            </a:rPr>
            <a:t>Enriquecimiento con población </a:t>
          </a:r>
          <a:r>
            <a:rPr lang="es-ES">
              <a:latin typeface="Arial" panose="020B0604020202020204" pitchFamily="34" charset="0"/>
              <a:cs typeface="Arial" panose="020B0604020202020204" pitchFamily="34" charset="0"/>
            </a:rPr>
            <a:t>(CCAA y Nacionalidad-Sexo)</a:t>
          </a:r>
        </a:p>
      </dgm:t>
    </dgm:pt>
    <dgm:pt modelId="{AA778D59-37C8-4893-8227-469DCCC52A21}" type="parTrans" cxnId="{EA273655-6DFA-4388-8659-07D0DA764245}">
      <dgm:prSet/>
      <dgm:spPr/>
      <dgm:t>
        <a:bodyPr/>
        <a:lstStyle/>
        <a:p>
          <a:endParaRPr lang="es-E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5EA1E5F-8286-4705-899B-A5C9CC335F41}" type="sibTrans" cxnId="{EA273655-6DFA-4388-8659-07D0DA764245}">
      <dgm:prSet/>
      <dgm:spPr/>
      <dgm:t>
        <a:bodyPr/>
        <a:lstStyle/>
        <a:p>
          <a:endParaRPr lang="es-E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619C180-538F-4302-8838-0F129DDDD550}">
      <dgm:prSet/>
      <dgm:spPr/>
      <dgm:t>
        <a:bodyPr/>
        <a:lstStyle/>
        <a:p>
          <a:r>
            <a:rPr lang="es-ES" b="1">
              <a:latin typeface="Arial" panose="020B0604020202020204" pitchFamily="34" charset="0"/>
              <a:cs typeface="Arial" panose="020B0604020202020204" pitchFamily="34" charset="0"/>
            </a:rPr>
            <a:t>Cálculo de tasas y detección outliers</a:t>
          </a:r>
          <a:endParaRPr lang="es-E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3E87B58-73DB-43D4-9FB3-9A6374BEAFF5}" type="parTrans" cxnId="{14EDEEDA-BEE3-418F-81E4-565A2DFBD8E3}">
      <dgm:prSet/>
      <dgm:spPr/>
      <dgm:t>
        <a:bodyPr/>
        <a:lstStyle/>
        <a:p>
          <a:endParaRPr lang="es-E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8C68BE1-1E92-413D-B771-DABCD94F3AA8}" type="sibTrans" cxnId="{14EDEEDA-BEE3-418F-81E4-565A2DFBD8E3}">
      <dgm:prSet/>
      <dgm:spPr/>
      <dgm:t>
        <a:bodyPr/>
        <a:lstStyle/>
        <a:p>
          <a:endParaRPr lang="es-E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5BC6D7A-A0F8-4156-8971-6C74687D5B4B}">
      <dgm:prSet/>
      <dgm:spPr/>
      <dgm:t>
        <a:bodyPr/>
        <a:lstStyle/>
        <a:p>
          <a:r>
            <a:rPr lang="es-ES" b="1" dirty="0">
              <a:latin typeface="Arial" panose="020B0604020202020204" pitchFamily="34" charset="0"/>
              <a:cs typeface="Arial" panose="020B0604020202020204" pitchFamily="34" charset="0"/>
            </a:rPr>
            <a:t>Visualización</a:t>
          </a:r>
          <a:endParaRPr lang="es-E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DC64A24-DAFE-48B3-8E0D-38F1D0EB81B0}" type="parTrans" cxnId="{7D9B9139-711C-4815-AC19-918CDCD043C8}">
      <dgm:prSet/>
      <dgm:spPr/>
      <dgm:t>
        <a:bodyPr/>
        <a:lstStyle/>
        <a:p>
          <a:endParaRPr lang="es-E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6B1B55B-D7D6-42EE-8371-87A91D424A90}" type="sibTrans" cxnId="{7D9B9139-711C-4815-AC19-918CDCD043C8}">
      <dgm:prSet/>
      <dgm:spPr/>
      <dgm:t>
        <a:bodyPr/>
        <a:lstStyle/>
        <a:p>
          <a:endParaRPr lang="es-E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04BDFF8-94E0-4FE2-ABE1-DB804F40FB26}">
      <dgm:prSet/>
      <dgm:spPr/>
      <dgm:t>
        <a:bodyPr/>
        <a:lstStyle/>
        <a:p>
          <a:r>
            <a:rPr lang="es-ES" b="1" dirty="0">
              <a:latin typeface="Arial" panose="020B0604020202020204" pitchFamily="34" charset="0"/>
              <a:cs typeface="Arial" panose="020B0604020202020204" pitchFamily="34" charset="0"/>
            </a:rPr>
            <a:t>Función </a:t>
          </a:r>
          <a:r>
            <a:rPr lang="es-ES" b="1" dirty="0" err="1">
              <a:latin typeface="Agency FB" panose="020B0503020202020204" pitchFamily="34" charset="0"/>
              <a:cs typeface="Arial" panose="020B0604020202020204" pitchFamily="34" charset="0"/>
            </a:rPr>
            <a:t>guess_encoding</a:t>
          </a:r>
          <a:endParaRPr lang="es-ES" b="1" dirty="0">
            <a:latin typeface="Agency FB" panose="020B0503020202020204" pitchFamily="34" charset="0"/>
            <a:cs typeface="Arial" panose="020B0604020202020204" pitchFamily="34" charset="0"/>
          </a:endParaRPr>
        </a:p>
      </dgm:t>
    </dgm:pt>
    <dgm:pt modelId="{90B3B029-456D-4ED4-8265-2C3F34A37EC4}" type="parTrans" cxnId="{8CE7C273-EF34-4EC1-A428-12FDD918A455}">
      <dgm:prSet/>
      <dgm:spPr/>
      <dgm:t>
        <a:bodyPr/>
        <a:lstStyle/>
        <a:p>
          <a:endParaRPr lang="es-E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CA485BB-34F8-4CAF-AAA1-231575E8DB53}" type="sibTrans" cxnId="{8CE7C273-EF34-4EC1-A428-12FDD918A455}">
      <dgm:prSet/>
      <dgm:spPr/>
      <dgm:t>
        <a:bodyPr/>
        <a:lstStyle/>
        <a:p>
          <a:endParaRPr lang="es-E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DB3FB32-32EC-4ADE-BFC9-1ADB9CFFF135}">
      <dgm:prSet/>
      <dgm:spPr/>
      <dgm:t>
        <a:bodyPr/>
        <a:lstStyle/>
        <a:p>
          <a:r>
            <a:rPr lang="es-ES" b="1" dirty="0">
              <a:latin typeface="Arial" panose="020B0604020202020204" pitchFamily="34" charset="0"/>
              <a:cs typeface="Arial" panose="020B0604020202020204" pitchFamily="34" charset="0"/>
            </a:rPr>
            <a:t>CSV</a:t>
          </a:r>
        </a:p>
      </dgm:t>
    </dgm:pt>
    <dgm:pt modelId="{8F2B4482-7300-45F9-8121-980DF3C4F421}" type="parTrans" cxnId="{BD386BD1-4139-49B2-B80C-4B6ABD9757BF}">
      <dgm:prSet/>
      <dgm:spPr/>
      <dgm:t>
        <a:bodyPr/>
        <a:lstStyle/>
        <a:p>
          <a:endParaRPr lang="es-ES"/>
        </a:p>
      </dgm:t>
    </dgm:pt>
    <dgm:pt modelId="{67634A23-D4BD-497C-8EB4-C023A75F568D}" type="sibTrans" cxnId="{BD386BD1-4139-49B2-B80C-4B6ABD9757BF}">
      <dgm:prSet/>
      <dgm:spPr/>
      <dgm:t>
        <a:bodyPr/>
        <a:lstStyle/>
        <a:p>
          <a:endParaRPr lang="es-ES"/>
        </a:p>
      </dgm:t>
    </dgm:pt>
    <dgm:pt modelId="{AD029403-0008-405E-9873-3389DB666B24}">
      <dgm:prSet/>
      <dgm:spPr/>
      <dgm:t>
        <a:bodyPr/>
        <a:lstStyle/>
        <a:p>
          <a:r>
            <a:rPr lang="es-ES" b="1" dirty="0">
              <a:latin typeface="Arial" panose="020B0604020202020204" pitchFamily="34" charset="0"/>
              <a:cs typeface="Arial" panose="020B0604020202020204" pitchFamily="34" charset="0"/>
            </a:rPr>
            <a:t>Gráficas y Mapas</a:t>
          </a:r>
        </a:p>
      </dgm:t>
    </dgm:pt>
    <dgm:pt modelId="{4442CA1B-28ED-4738-965A-696CD770C75C}" type="parTrans" cxnId="{03A124FD-9B22-4E04-BE21-3F05971EC091}">
      <dgm:prSet/>
      <dgm:spPr/>
      <dgm:t>
        <a:bodyPr/>
        <a:lstStyle/>
        <a:p>
          <a:endParaRPr lang="es-ES"/>
        </a:p>
      </dgm:t>
    </dgm:pt>
    <dgm:pt modelId="{F32D25C2-D18B-4516-8792-A662D0A9E0CE}" type="sibTrans" cxnId="{03A124FD-9B22-4E04-BE21-3F05971EC091}">
      <dgm:prSet/>
      <dgm:spPr/>
      <dgm:t>
        <a:bodyPr/>
        <a:lstStyle/>
        <a:p>
          <a:endParaRPr lang="es-ES"/>
        </a:p>
      </dgm:t>
    </dgm:pt>
    <dgm:pt modelId="{8A049974-6261-42B7-AAD0-3F5888FF9CAB}">
      <dgm:prSet/>
      <dgm:spPr/>
      <dgm:t>
        <a:bodyPr/>
        <a:lstStyle/>
        <a:p>
          <a:r>
            <a:rPr lang="es-ES" b="1" dirty="0">
              <a:latin typeface="Arial" panose="020B0604020202020204" pitchFamily="34" charset="0"/>
              <a:cs typeface="Arial" panose="020B0604020202020204" pitchFamily="34" charset="0"/>
            </a:rPr>
            <a:t>XLSX</a:t>
          </a:r>
        </a:p>
      </dgm:t>
    </dgm:pt>
    <dgm:pt modelId="{0B3FCFA8-7617-4CCB-9077-3A4E9B524313}" type="parTrans" cxnId="{70BD1B2D-FBF0-48EA-BE9B-2B031C215C19}">
      <dgm:prSet/>
      <dgm:spPr/>
      <dgm:t>
        <a:bodyPr/>
        <a:lstStyle/>
        <a:p>
          <a:endParaRPr lang="es-ES"/>
        </a:p>
      </dgm:t>
    </dgm:pt>
    <dgm:pt modelId="{40ECC3A5-7013-4C9C-B3AB-B5A8E0BF97F4}" type="sibTrans" cxnId="{70BD1B2D-FBF0-48EA-BE9B-2B031C215C19}">
      <dgm:prSet/>
      <dgm:spPr/>
      <dgm:t>
        <a:bodyPr/>
        <a:lstStyle/>
        <a:p>
          <a:endParaRPr lang="es-ES"/>
        </a:p>
      </dgm:t>
    </dgm:pt>
    <dgm:pt modelId="{C4141AEB-1C26-4AE0-9B04-0B8F6969C805}">
      <dgm:prSet/>
      <dgm:spPr/>
      <dgm:t>
        <a:bodyPr/>
        <a:lstStyle/>
        <a:p>
          <a:r>
            <a:rPr lang="es-ES" b="1">
              <a:latin typeface="Arial" panose="020B0604020202020204" pitchFamily="34" charset="0"/>
              <a:cs typeface="Arial" panose="020B0604020202020204" pitchFamily="34" charset="0"/>
            </a:rPr>
            <a:t>Análisis entre Variables</a:t>
          </a:r>
          <a:endParaRPr lang="es-ES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656CA49-0954-4042-86EC-8DCE117F99DD}" type="parTrans" cxnId="{00B0177A-1F2F-41CC-B539-AD23CA14DB1B}">
      <dgm:prSet/>
      <dgm:spPr/>
      <dgm:t>
        <a:bodyPr/>
        <a:lstStyle/>
        <a:p>
          <a:endParaRPr lang="es-CR"/>
        </a:p>
      </dgm:t>
    </dgm:pt>
    <dgm:pt modelId="{EAAB78D7-CFB6-47D6-A01B-6F7308113900}" type="sibTrans" cxnId="{00B0177A-1F2F-41CC-B539-AD23CA14DB1B}">
      <dgm:prSet/>
      <dgm:spPr/>
      <dgm:t>
        <a:bodyPr/>
        <a:lstStyle/>
        <a:p>
          <a:endParaRPr lang="es-CR"/>
        </a:p>
      </dgm:t>
    </dgm:pt>
    <dgm:pt modelId="{C639E31C-F6CF-4755-9E33-ECAA020D2D95}" type="pres">
      <dgm:prSet presAssocID="{7F9C2E21-012B-4C1F-84BE-4F8665C8A3DD}" presName="linear" presStyleCnt="0">
        <dgm:presLayoutVars>
          <dgm:animLvl val="lvl"/>
          <dgm:resizeHandles val="exact"/>
        </dgm:presLayoutVars>
      </dgm:prSet>
      <dgm:spPr/>
    </dgm:pt>
    <dgm:pt modelId="{27DE965C-2232-4E6B-8D95-F10A0544A347}" type="pres">
      <dgm:prSet presAssocID="{CC305985-FC90-46B6-9B33-54A3D1A1125A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CE254DDA-6BA3-4501-BC4D-0DE7417B5FC6}" type="pres">
      <dgm:prSet presAssocID="{CC305985-FC90-46B6-9B33-54A3D1A1125A}" presName="childText" presStyleLbl="revTx" presStyleIdx="0" presStyleCnt="4">
        <dgm:presLayoutVars>
          <dgm:bulletEnabled val="1"/>
        </dgm:presLayoutVars>
      </dgm:prSet>
      <dgm:spPr/>
    </dgm:pt>
    <dgm:pt modelId="{409EE9EA-C068-4C90-A278-EA6C91D50731}" type="pres">
      <dgm:prSet presAssocID="{A7CF1803-36F5-48BA-B45B-CF415031E7C8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B3B10A59-A5F5-4F91-9CFF-F53D63A75C23}" type="pres">
      <dgm:prSet presAssocID="{A7CF1803-36F5-48BA-B45B-CF415031E7C8}" presName="childText" presStyleLbl="revTx" presStyleIdx="1" presStyleCnt="4">
        <dgm:presLayoutVars>
          <dgm:bulletEnabled val="1"/>
        </dgm:presLayoutVars>
      </dgm:prSet>
      <dgm:spPr/>
    </dgm:pt>
    <dgm:pt modelId="{923CFE03-78FC-4873-B9CD-D83A4EEEC655}" type="pres">
      <dgm:prSet presAssocID="{1956B67C-A803-4D62-A569-9A2820E0A92D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A974E618-359F-419B-9476-70D40688A8E9}" type="pres">
      <dgm:prSet presAssocID="{1956B67C-A803-4D62-A569-9A2820E0A92D}" presName="childText" presStyleLbl="revTx" presStyleIdx="2" presStyleCnt="4">
        <dgm:presLayoutVars>
          <dgm:bulletEnabled val="1"/>
        </dgm:presLayoutVars>
      </dgm:prSet>
      <dgm:spPr/>
    </dgm:pt>
    <dgm:pt modelId="{3D110B7D-2343-4241-B9D2-0533DD91B724}" type="pres">
      <dgm:prSet presAssocID="{5619C180-538F-4302-8838-0F129DDDD550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88F20B6F-94F4-4D3F-8874-3EECB799EE99}" type="pres">
      <dgm:prSet presAssocID="{A8C68BE1-1E92-413D-B771-DABCD94F3AA8}" presName="spacer" presStyleCnt="0"/>
      <dgm:spPr/>
    </dgm:pt>
    <dgm:pt modelId="{E8B47059-BABE-464E-AB4B-15B2D832E579}" type="pres">
      <dgm:prSet presAssocID="{35BC6D7A-A0F8-4156-8971-6C74687D5B4B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F60CD0A6-3686-422C-949F-0006C4D140ED}" type="pres">
      <dgm:prSet presAssocID="{35BC6D7A-A0F8-4156-8971-6C74687D5B4B}" presName="childText" presStyleLbl="revTx" presStyleIdx="3" presStyleCnt="4">
        <dgm:presLayoutVars>
          <dgm:bulletEnabled val="1"/>
        </dgm:presLayoutVars>
      </dgm:prSet>
      <dgm:spPr/>
    </dgm:pt>
    <dgm:pt modelId="{6CA6C5EB-C03F-4BF7-A906-75772FF29E4E}" type="pres">
      <dgm:prSet presAssocID="{C4141AEB-1C26-4AE0-9B04-0B8F6969C805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70BD1B2D-FBF0-48EA-BE9B-2B031C215C19}" srcId="{CC305985-FC90-46B6-9B33-54A3D1A1125A}" destId="{8A049974-6261-42B7-AAD0-3F5888FF9CAB}" srcOrd="1" destOrd="0" parTransId="{0B3FCFA8-7617-4CCB-9077-3A4E9B524313}" sibTransId="{40ECC3A5-7013-4C9C-B3AB-B5A8E0BF97F4}"/>
    <dgm:cxn modelId="{C2991938-E9E6-44D1-89A4-BFA7AF75C0B7}" type="presOf" srcId="{AD029403-0008-405E-9873-3389DB666B24}" destId="{F60CD0A6-3686-422C-949F-0006C4D140ED}" srcOrd="0" destOrd="0" presId="urn:microsoft.com/office/officeart/2005/8/layout/vList2"/>
    <dgm:cxn modelId="{7D9B9139-711C-4815-AC19-918CDCD043C8}" srcId="{7F9C2E21-012B-4C1F-84BE-4F8665C8A3DD}" destId="{35BC6D7A-A0F8-4156-8971-6C74687D5B4B}" srcOrd="4" destOrd="0" parTransId="{3DC64A24-DAFE-48B3-8E0D-38F1D0EB81B0}" sibTransId="{D6B1B55B-D7D6-42EE-8371-87A91D424A90}"/>
    <dgm:cxn modelId="{0155163C-F17D-46A6-BDC1-823ECD1A5036}" srcId="{7F9C2E21-012B-4C1F-84BE-4F8665C8A3DD}" destId="{1956B67C-A803-4D62-A569-9A2820E0A92D}" srcOrd="2" destOrd="0" parTransId="{9481B606-174F-4A0D-BF4E-EE753AB8A282}" sibTransId="{6977284F-87D5-461C-80A8-D970B734AF56}"/>
    <dgm:cxn modelId="{3ACCCE40-0C4D-4EBA-85A6-2C17D84D3406}" type="presOf" srcId="{9EC4BC67-FF93-4E44-BD4C-979FA1998330}" destId="{A974E618-359F-419B-9476-70D40688A8E9}" srcOrd="0" destOrd="1" presId="urn:microsoft.com/office/officeart/2005/8/layout/vList2"/>
    <dgm:cxn modelId="{E54C4C5F-58A0-48B7-B779-8F33D19B8E92}" type="presOf" srcId="{5619C180-538F-4302-8838-0F129DDDD550}" destId="{3D110B7D-2343-4241-B9D2-0533DD91B724}" srcOrd="0" destOrd="0" presId="urn:microsoft.com/office/officeart/2005/8/layout/vList2"/>
    <dgm:cxn modelId="{D4745860-F833-4F3D-A438-266A938FEF10}" type="presOf" srcId="{35BC6D7A-A0F8-4156-8971-6C74687D5B4B}" destId="{E8B47059-BABE-464E-AB4B-15B2D832E579}" srcOrd="0" destOrd="0" presId="urn:microsoft.com/office/officeart/2005/8/layout/vList2"/>
    <dgm:cxn modelId="{523A1D43-FC56-45A1-8C14-A72E509D88D0}" type="presOf" srcId="{7F9C2E21-012B-4C1F-84BE-4F8665C8A3DD}" destId="{C639E31C-F6CF-4755-9E33-ECAA020D2D95}" srcOrd="0" destOrd="0" presId="urn:microsoft.com/office/officeart/2005/8/layout/vList2"/>
    <dgm:cxn modelId="{0BE06749-A87C-4460-95AE-F9B0CEC4A313}" srcId="{7F9C2E21-012B-4C1F-84BE-4F8665C8A3DD}" destId="{CC305985-FC90-46B6-9B33-54A3D1A1125A}" srcOrd="0" destOrd="0" parTransId="{E6B11154-01CD-4E9F-A7F8-4244CB4906F6}" sibTransId="{4CEBF66D-7E9B-48A9-AF6C-9A1045C35852}"/>
    <dgm:cxn modelId="{5039F96E-DF1D-4A43-9F2F-83289BD6EFEC}" type="presOf" srcId="{26E59D41-4BD3-41B2-9394-025BCA090E28}" destId="{A974E618-359F-419B-9476-70D40688A8E9}" srcOrd="0" destOrd="0" presId="urn:microsoft.com/office/officeart/2005/8/layout/vList2"/>
    <dgm:cxn modelId="{8CE7C273-EF34-4EC1-A428-12FDD918A455}" srcId="{A7CF1803-36F5-48BA-B45B-CF415031E7C8}" destId="{704BDFF8-94E0-4FE2-ABE1-DB804F40FB26}" srcOrd="0" destOrd="0" parTransId="{90B3B029-456D-4ED4-8265-2C3F34A37EC4}" sibTransId="{2CA485BB-34F8-4CAF-AAA1-231575E8DB53}"/>
    <dgm:cxn modelId="{EA273655-6DFA-4388-8659-07D0DA764245}" srcId="{1956B67C-A803-4D62-A569-9A2820E0A92D}" destId="{9EC4BC67-FF93-4E44-BD4C-979FA1998330}" srcOrd="1" destOrd="0" parTransId="{AA778D59-37C8-4893-8227-469DCCC52A21}" sibTransId="{B5EA1E5F-8286-4705-899B-A5C9CC335F41}"/>
    <dgm:cxn modelId="{95773177-51E6-4E13-B56A-626E484521BE}" type="presOf" srcId="{C4141AEB-1C26-4AE0-9B04-0B8F6969C805}" destId="{6CA6C5EB-C03F-4BF7-A906-75772FF29E4E}" srcOrd="0" destOrd="0" presId="urn:microsoft.com/office/officeart/2005/8/layout/vList2"/>
    <dgm:cxn modelId="{00B0177A-1F2F-41CC-B539-AD23CA14DB1B}" srcId="{7F9C2E21-012B-4C1F-84BE-4F8665C8A3DD}" destId="{C4141AEB-1C26-4AE0-9B04-0B8F6969C805}" srcOrd="5" destOrd="0" parTransId="{C656CA49-0954-4042-86EC-8DCE117F99DD}" sibTransId="{EAAB78D7-CFB6-47D6-A01B-6F7308113900}"/>
    <dgm:cxn modelId="{5AB5AF85-E463-41E2-8021-8684715099BB}" srcId="{7F9C2E21-012B-4C1F-84BE-4F8665C8A3DD}" destId="{A7CF1803-36F5-48BA-B45B-CF415031E7C8}" srcOrd="1" destOrd="0" parTransId="{17B5B65B-4F8B-451E-9CC4-FF3B1C86C0BA}" sibTransId="{9327EBEC-A3E3-484A-AC33-44B11F1A9A79}"/>
    <dgm:cxn modelId="{7EC69095-883C-40BC-B173-ABBFE3F5FC3C}" type="presOf" srcId="{8A049974-6261-42B7-AAD0-3F5888FF9CAB}" destId="{CE254DDA-6BA3-4501-BC4D-0DE7417B5FC6}" srcOrd="0" destOrd="1" presId="urn:microsoft.com/office/officeart/2005/8/layout/vList2"/>
    <dgm:cxn modelId="{30092BA4-1C5E-4C9A-B4A7-5FC962163375}" type="presOf" srcId="{CC305985-FC90-46B6-9B33-54A3D1A1125A}" destId="{27DE965C-2232-4E6B-8D95-F10A0544A347}" srcOrd="0" destOrd="0" presId="urn:microsoft.com/office/officeart/2005/8/layout/vList2"/>
    <dgm:cxn modelId="{235DE1C4-C364-4ABC-B338-270A38847D08}" type="presOf" srcId="{0DB3FB32-32EC-4ADE-BFC9-1ADB9CFFF135}" destId="{CE254DDA-6BA3-4501-BC4D-0DE7417B5FC6}" srcOrd="0" destOrd="0" presId="urn:microsoft.com/office/officeart/2005/8/layout/vList2"/>
    <dgm:cxn modelId="{D42E84C8-C43A-4A1A-B118-E778DCC58925}" type="presOf" srcId="{1956B67C-A803-4D62-A569-9A2820E0A92D}" destId="{923CFE03-78FC-4873-B9CD-D83A4EEEC655}" srcOrd="0" destOrd="0" presId="urn:microsoft.com/office/officeart/2005/8/layout/vList2"/>
    <dgm:cxn modelId="{BD386BD1-4139-49B2-B80C-4B6ABD9757BF}" srcId="{CC305985-FC90-46B6-9B33-54A3D1A1125A}" destId="{0DB3FB32-32EC-4ADE-BFC9-1ADB9CFFF135}" srcOrd="0" destOrd="0" parTransId="{8F2B4482-7300-45F9-8121-980DF3C4F421}" sibTransId="{67634A23-D4BD-497C-8EB4-C023A75F568D}"/>
    <dgm:cxn modelId="{C810D2D4-E1AD-4F70-8251-4F0B4CA3432D}" srcId="{1956B67C-A803-4D62-A569-9A2820E0A92D}" destId="{26E59D41-4BD3-41B2-9394-025BCA090E28}" srcOrd="0" destOrd="0" parTransId="{92C932D3-7639-4A35-9123-B27D2B7D5361}" sibTransId="{3E4F4711-F91B-4BBF-8AC4-C4E5CF7902B8}"/>
    <dgm:cxn modelId="{55EA65D5-4D68-4558-9BF2-7A5967A410BE}" type="presOf" srcId="{A7CF1803-36F5-48BA-B45B-CF415031E7C8}" destId="{409EE9EA-C068-4C90-A278-EA6C91D50731}" srcOrd="0" destOrd="0" presId="urn:microsoft.com/office/officeart/2005/8/layout/vList2"/>
    <dgm:cxn modelId="{14EDEEDA-BEE3-418F-81E4-565A2DFBD8E3}" srcId="{7F9C2E21-012B-4C1F-84BE-4F8665C8A3DD}" destId="{5619C180-538F-4302-8838-0F129DDDD550}" srcOrd="3" destOrd="0" parTransId="{53E87B58-73DB-43D4-9FB3-9A6374BEAFF5}" sibTransId="{A8C68BE1-1E92-413D-B771-DABCD94F3AA8}"/>
    <dgm:cxn modelId="{0F1FDBE2-2405-4782-A107-8DEA12820809}" type="presOf" srcId="{704BDFF8-94E0-4FE2-ABE1-DB804F40FB26}" destId="{B3B10A59-A5F5-4F91-9CFF-F53D63A75C23}" srcOrd="0" destOrd="0" presId="urn:microsoft.com/office/officeart/2005/8/layout/vList2"/>
    <dgm:cxn modelId="{03A124FD-9B22-4E04-BE21-3F05971EC091}" srcId="{35BC6D7A-A0F8-4156-8971-6C74687D5B4B}" destId="{AD029403-0008-405E-9873-3389DB666B24}" srcOrd="0" destOrd="0" parTransId="{4442CA1B-28ED-4738-965A-696CD770C75C}" sibTransId="{F32D25C2-D18B-4516-8792-A662D0A9E0CE}"/>
    <dgm:cxn modelId="{E6B83B89-F3B6-4257-9765-0D52F4C4C090}" type="presParOf" srcId="{C639E31C-F6CF-4755-9E33-ECAA020D2D95}" destId="{27DE965C-2232-4E6B-8D95-F10A0544A347}" srcOrd="0" destOrd="0" presId="urn:microsoft.com/office/officeart/2005/8/layout/vList2"/>
    <dgm:cxn modelId="{E67CE224-BCA2-4763-88E9-DE120C276C30}" type="presParOf" srcId="{C639E31C-F6CF-4755-9E33-ECAA020D2D95}" destId="{CE254DDA-6BA3-4501-BC4D-0DE7417B5FC6}" srcOrd="1" destOrd="0" presId="urn:microsoft.com/office/officeart/2005/8/layout/vList2"/>
    <dgm:cxn modelId="{7F55FA74-DEE6-4B41-8F1A-AF3745D7D2BA}" type="presParOf" srcId="{C639E31C-F6CF-4755-9E33-ECAA020D2D95}" destId="{409EE9EA-C068-4C90-A278-EA6C91D50731}" srcOrd="2" destOrd="0" presId="urn:microsoft.com/office/officeart/2005/8/layout/vList2"/>
    <dgm:cxn modelId="{E42C9301-681F-4E7B-ABDC-1F4B2EDC6336}" type="presParOf" srcId="{C639E31C-F6CF-4755-9E33-ECAA020D2D95}" destId="{B3B10A59-A5F5-4F91-9CFF-F53D63A75C23}" srcOrd="3" destOrd="0" presId="urn:microsoft.com/office/officeart/2005/8/layout/vList2"/>
    <dgm:cxn modelId="{A2628764-B32B-4385-9B88-593D54DC22C4}" type="presParOf" srcId="{C639E31C-F6CF-4755-9E33-ECAA020D2D95}" destId="{923CFE03-78FC-4873-B9CD-D83A4EEEC655}" srcOrd="4" destOrd="0" presId="urn:microsoft.com/office/officeart/2005/8/layout/vList2"/>
    <dgm:cxn modelId="{0C96DE9A-5375-4102-93CF-50FCEF21ECD9}" type="presParOf" srcId="{C639E31C-F6CF-4755-9E33-ECAA020D2D95}" destId="{A974E618-359F-419B-9476-70D40688A8E9}" srcOrd="5" destOrd="0" presId="urn:microsoft.com/office/officeart/2005/8/layout/vList2"/>
    <dgm:cxn modelId="{6D8590BA-093D-4630-A634-1220634DEE18}" type="presParOf" srcId="{C639E31C-F6CF-4755-9E33-ECAA020D2D95}" destId="{3D110B7D-2343-4241-B9D2-0533DD91B724}" srcOrd="6" destOrd="0" presId="urn:microsoft.com/office/officeart/2005/8/layout/vList2"/>
    <dgm:cxn modelId="{F5E51AC8-826C-44D7-A875-B17335706B3D}" type="presParOf" srcId="{C639E31C-F6CF-4755-9E33-ECAA020D2D95}" destId="{88F20B6F-94F4-4D3F-8874-3EECB799EE99}" srcOrd="7" destOrd="0" presId="urn:microsoft.com/office/officeart/2005/8/layout/vList2"/>
    <dgm:cxn modelId="{BCFAB13B-B35D-4E82-AAFE-300E161A21D6}" type="presParOf" srcId="{C639E31C-F6CF-4755-9E33-ECAA020D2D95}" destId="{E8B47059-BABE-464E-AB4B-15B2D832E579}" srcOrd="8" destOrd="0" presId="urn:microsoft.com/office/officeart/2005/8/layout/vList2"/>
    <dgm:cxn modelId="{6F5C8FED-B51F-4E59-8A19-B34ABC6FAC95}" type="presParOf" srcId="{C639E31C-F6CF-4755-9E33-ECAA020D2D95}" destId="{F60CD0A6-3686-422C-949F-0006C4D140ED}" srcOrd="9" destOrd="0" presId="urn:microsoft.com/office/officeart/2005/8/layout/vList2"/>
    <dgm:cxn modelId="{C232F087-902C-455A-AA60-23BAED2A9BCC}" type="presParOf" srcId="{C639E31C-F6CF-4755-9E33-ECAA020D2D95}" destId="{6CA6C5EB-C03F-4BF7-A906-75772FF29E4E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DE965C-2232-4E6B-8D95-F10A0544A347}">
      <dsp:nvSpPr>
        <dsp:cNvPr id="0" name=""/>
        <dsp:cNvSpPr/>
      </dsp:nvSpPr>
      <dsp:spPr>
        <a:xfrm>
          <a:off x="0" y="5064"/>
          <a:ext cx="10653579" cy="468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>
              <a:latin typeface="Arial" panose="020B0604020202020204" pitchFamily="34" charset="0"/>
              <a:cs typeface="Arial" panose="020B0604020202020204" pitchFamily="34" charset="0"/>
            </a:rPr>
            <a:t>Adquisición</a:t>
          </a:r>
          <a:endParaRPr lang="es-ES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2846" y="27910"/>
        <a:ext cx="10607887" cy="422308"/>
      </dsp:txXfrm>
    </dsp:sp>
    <dsp:sp modelId="{CE254DDA-6BA3-4501-BC4D-0DE7417B5FC6}">
      <dsp:nvSpPr>
        <dsp:cNvPr id="0" name=""/>
        <dsp:cNvSpPr/>
      </dsp:nvSpPr>
      <dsp:spPr>
        <a:xfrm>
          <a:off x="0" y="473064"/>
          <a:ext cx="10653579" cy="5278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8251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600" b="1" kern="1200" dirty="0">
              <a:latin typeface="Arial" panose="020B0604020202020204" pitchFamily="34" charset="0"/>
              <a:cs typeface="Arial" panose="020B0604020202020204" pitchFamily="34" charset="0"/>
            </a:rPr>
            <a:t>CSV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600" b="1" kern="1200" dirty="0">
              <a:latin typeface="Arial" panose="020B0604020202020204" pitchFamily="34" charset="0"/>
              <a:cs typeface="Arial" panose="020B0604020202020204" pitchFamily="34" charset="0"/>
            </a:rPr>
            <a:t>XLSX</a:t>
          </a:r>
        </a:p>
      </dsp:txBody>
      <dsp:txXfrm>
        <a:off x="0" y="473064"/>
        <a:ext cx="10653579" cy="527850"/>
      </dsp:txXfrm>
    </dsp:sp>
    <dsp:sp modelId="{409EE9EA-C068-4C90-A278-EA6C91D50731}">
      <dsp:nvSpPr>
        <dsp:cNvPr id="0" name=""/>
        <dsp:cNvSpPr/>
      </dsp:nvSpPr>
      <dsp:spPr>
        <a:xfrm>
          <a:off x="0" y="1000914"/>
          <a:ext cx="10653579" cy="468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>
              <a:latin typeface="Arial" panose="020B0604020202020204" pitchFamily="34" charset="0"/>
              <a:cs typeface="Arial" panose="020B0604020202020204" pitchFamily="34" charset="0"/>
            </a:rPr>
            <a:t>Chequeo</a:t>
          </a:r>
          <a:r>
            <a:rPr lang="es-ES" sz="20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s-ES" sz="2000" b="1" kern="1200" dirty="0">
              <a:latin typeface="Arial" panose="020B0604020202020204" pitchFamily="34" charset="0"/>
              <a:cs typeface="Arial" panose="020B0604020202020204" pitchFamily="34" charset="0"/>
            </a:rPr>
            <a:t>Codificación</a:t>
          </a:r>
          <a:endParaRPr lang="es-ES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2846" y="1023760"/>
        <a:ext cx="10607887" cy="422308"/>
      </dsp:txXfrm>
    </dsp:sp>
    <dsp:sp modelId="{B3B10A59-A5F5-4F91-9CFF-F53D63A75C23}">
      <dsp:nvSpPr>
        <dsp:cNvPr id="0" name=""/>
        <dsp:cNvSpPr/>
      </dsp:nvSpPr>
      <dsp:spPr>
        <a:xfrm>
          <a:off x="0" y="1468914"/>
          <a:ext cx="10653579" cy="331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8251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600" b="1" kern="1200" dirty="0">
              <a:latin typeface="Arial" panose="020B0604020202020204" pitchFamily="34" charset="0"/>
              <a:cs typeface="Arial" panose="020B0604020202020204" pitchFamily="34" charset="0"/>
            </a:rPr>
            <a:t>Función </a:t>
          </a:r>
          <a:r>
            <a:rPr lang="es-ES" sz="1600" b="1" kern="1200" dirty="0" err="1">
              <a:latin typeface="Agency FB" panose="020B0503020202020204" pitchFamily="34" charset="0"/>
              <a:cs typeface="Arial" panose="020B0604020202020204" pitchFamily="34" charset="0"/>
            </a:rPr>
            <a:t>guess_encoding</a:t>
          </a:r>
          <a:endParaRPr lang="es-ES" sz="1600" b="1" kern="1200" dirty="0">
            <a:latin typeface="Agency FB" panose="020B0503020202020204" pitchFamily="34" charset="0"/>
            <a:cs typeface="Arial" panose="020B0604020202020204" pitchFamily="34" charset="0"/>
          </a:endParaRPr>
        </a:p>
      </dsp:txBody>
      <dsp:txXfrm>
        <a:off x="0" y="1468914"/>
        <a:ext cx="10653579" cy="331200"/>
      </dsp:txXfrm>
    </dsp:sp>
    <dsp:sp modelId="{923CFE03-78FC-4873-B9CD-D83A4EEEC655}">
      <dsp:nvSpPr>
        <dsp:cNvPr id="0" name=""/>
        <dsp:cNvSpPr/>
      </dsp:nvSpPr>
      <dsp:spPr>
        <a:xfrm>
          <a:off x="0" y="1800114"/>
          <a:ext cx="10653579" cy="468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>
              <a:latin typeface="Arial" panose="020B0604020202020204" pitchFamily="34" charset="0"/>
              <a:cs typeface="Arial" panose="020B0604020202020204" pitchFamily="34" charset="0"/>
            </a:rPr>
            <a:t>Limpieza / “Formato </a:t>
          </a:r>
          <a:r>
            <a:rPr lang="es-ES" sz="2000" b="1" kern="1200" dirty="0" err="1">
              <a:latin typeface="Arial" panose="020B0604020202020204" pitchFamily="34" charset="0"/>
              <a:cs typeface="Arial" panose="020B0604020202020204" pitchFamily="34" charset="0"/>
            </a:rPr>
            <a:t>Tidy</a:t>
          </a:r>
          <a:r>
            <a:rPr lang="es-ES" sz="2000" b="1" kern="1200" dirty="0">
              <a:latin typeface="Arial" panose="020B0604020202020204" pitchFamily="34" charset="0"/>
              <a:cs typeface="Arial" panose="020B0604020202020204" pitchFamily="34" charset="0"/>
            </a:rPr>
            <a:t>”</a:t>
          </a:r>
          <a:endParaRPr lang="es-ES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2846" y="1822960"/>
        <a:ext cx="10607887" cy="422308"/>
      </dsp:txXfrm>
    </dsp:sp>
    <dsp:sp modelId="{A974E618-359F-419B-9476-70D40688A8E9}">
      <dsp:nvSpPr>
        <dsp:cNvPr id="0" name=""/>
        <dsp:cNvSpPr/>
      </dsp:nvSpPr>
      <dsp:spPr>
        <a:xfrm>
          <a:off x="0" y="2268114"/>
          <a:ext cx="10653579" cy="5278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8251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600" b="1" kern="1200">
              <a:latin typeface="Arial" panose="020B0604020202020204" pitchFamily="34" charset="0"/>
              <a:cs typeface="Arial" panose="020B0604020202020204" pitchFamily="34" charset="0"/>
            </a:rPr>
            <a:t>Unión por años </a:t>
          </a:r>
          <a:r>
            <a:rPr lang="es-ES" sz="1600" kern="1200">
              <a:latin typeface="Arial" panose="020B0604020202020204" pitchFamily="34" charset="0"/>
              <a:cs typeface="Arial" panose="020B0604020202020204" pitchFamily="34" charset="0"/>
            </a:rPr>
            <a:t>(MSE, CSE, NS)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600" b="1" kern="1200">
              <a:latin typeface="Arial" panose="020B0604020202020204" pitchFamily="34" charset="0"/>
              <a:cs typeface="Arial" panose="020B0604020202020204" pitchFamily="34" charset="0"/>
            </a:rPr>
            <a:t>Enriquecimiento con población </a:t>
          </a:r>
          <a:r>
            <a:rPr lang="es-ES" sz="1600" kern="1200">
              <a:latin typeface="Arial" panose="020B0604020202020204" pitchFamily="34" charset="0"/>
              <a:cs typeface="Arial" panose="020B0604020202020204" pitchFamily="34" charset="0"/>
            </a:rPr>
            <a:t>(CCAA y Nacionalidad-Sexo)</a:t>
          </a:r>
        </a:p>
      </dsp:txBody>
      <dsp:txXfrm>
        <a:off x="0" y="2268114"/>
        <a:ext cx="10653579" cy="527850"/>
      </dsp:txXfrm>
    </dsp:sp>
    <dsp:sp modelId="{3D110B7D-2343-4241-B9D2-0533DD91B724}">
      <dsp:nvSpPr>
        <dsp:cNvPr id="0" name=""/>
        <dsp:cNvSpPr/>
      </dsp:nvSpPr>
      <dsp:spPr>
        <a:xfrm>
          <a:off x="0" y="2795964"/>
          <a:ext cx="10653579" cy="468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>
              <a:latin typeface="Arial" panose="020B0604020202020204" pitchFamily="34" charset="0"/>
              <a:cs typeface="Arial" panose="020B0604020202020204" pitchFamily="34" charset="0"/>
            </a:rPr>
            <a:t>Cálculo de tasas y detección outliers</a:t>
          </a:r>
          <a:endParaRPr lang="es-ES" sz="20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2846" y="2818810"/>
        <a:ext cx="10607887" cy="422308"/>
      </dsp:txXfrm>
    </dsp:sp>
    <dsp:sp modelId="{E8B47059-BABE-464E-AB4B-15B2D832E579}">
      <dsp:nvSpPr>
        <dsp:cNvPr id="0" name=""/>
        <dsp:cNvSpPr/>
      </dsp:nvSpPr>
      <dsp:spPr>
        <a:xfrm>
          <a:off x="0" y="3321564"/>
          <a:ext cx="10653579" cy="468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>
              <a:latin typeface="Arial" panose="020B0604020202020204" pitchFamily="34" charset="0"/>
              <a:cs typeface="Arial" panose="020B0604020202020204" pitchFamily="34" charset="0"/>
            </a:rPr>
            <a:t>Visualización</a:t>
          </a:r>
          <a:endParaRPr lang="es-ES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2846" y="3344410"/>
        <a:ext cx="10607887" cy="422308"/>
      </dsp:txXfrm>
    </dsp:sp>
    <dsp:sp modelId="{F60CD0A6-3686-422C-949F-0006C4D140ED}">
      <dsp:nvSpPr>
        <dsp:cNvPr id="0" name=""/>
        <dsp:cNvSpPr/>
      </dsp:nvSpPr>
      <dsp:spPr>
        <a:xfrm>
          <a:off x="0" y="3789564"/>
          <a:ext cx="10653579" cy="331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8251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600" b="1" kern="1200" dirty="0">
              <a:latin typeface="Arial" panose="020B0604020202020204" pitchFamily="34" charset="0"/>
              <a:cs typeface="Arial" panose="020B0604020202020204" pitchFamily="34" charset="0"/>
            </a:rPr>
            <a:t>Gráficas y Mapas</a:t>
          </a:r>
        </a:p>
      </dsp:txBody>
      <dsp:txXfrm>
        <a:off x="0" y="3789564"/>
        <a:ext cx="10653579" cy="331200"/>
      </dsp:txXfrm>
    </dsp:sp>
    <dsp:sp modelId="{6CA6C5EB-C03F-4BF7-A906-75772FF29E4E}">
      <dsp:nvSpPr>
        <dsp:cNvPr id="0" name=""/>
        <dsp:cNvSpPr/>
      </dsp:nvSpPr>
      <dsp:spPr>
        <a:xfrm>
          <a:off x="0" y="4120764"/>
          <a:ext cx="10653579" cy="468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>
              <a:latin typeface="Arial" panose="020B0604020202020204" pitchFamily="34" charset="0"/>
              <a:cs typeface="Arial" panose="020B0604020202020204" pitchFamily="34" charset="0"/>
            </a:rPr>
            <a:t>Análisis entre Variables</a:t>
          </a:r>
          <a:endParaRPr lang="es-ES" sz="2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2846" y="4143610"/>
        <a:ext cx="10607887" cy="4223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524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216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070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363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456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674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224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866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144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321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069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684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uv.es/uvsostenible/Guia_adcs_cas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86D72-017F-D726-6715-3648ACF5C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211" y="2718232"/>
            <a:ext cx="10653578" cy="410836"/>
          </a:xfrm>
        </p:spPr>
        <p:txBody>
          <a:bodyPr>
            <a:noAutofit/>
          </a:bodyPr>
          <a:lstStyle/>
          <a:p>
            <a:pPr algn="ctr"/>
            <a:r>
              <a:rPr lang="es-ES" sz="4400" dirty="0"/>
              <a:t>Análisis de los Suicidios Registrados en España en el Periodo 2014–2023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0F83A8F-0185-811A-BEAC-879C0141874B}"/>
              </a:ext>
            </a:extLst>
          </p:cNvPr>
          <p:cNvSpPr txBox="1">
            <a:spLocks/>
          </p:cNvSpPr>
          <p:nvPr/>
        </p:nvSpPr>
        <p:spPr>
          <a:xfrm>
            <a:off x="769211" y="4502878"/>
            <a:ext cx="10653578" cy="4108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1800" b="0" dirty="0"/>
              <a:t>Análisis Exploratorio de Datos (AED)</a:t>
            </a:r>
          </a:p>
        </p:txBody>
      </p:sp>
      <p:pic>
        <p:nvPicPr>
          <p:cNvPr id="6" name="Imagen 5" descr="Texto, Logotipo&#10;&#10;El contenido generado por IA puede ser incorrecto.">
            <a:extLst>
              <a:ext uri="{FF2B5EF4-FFF2-40B4-BE49-F238E27FC236}">
                <a16:creationId xmlns:a16="http://schemas.microsoft.com/office/drawing/2014/main" id="{3328D0D4-10F9-F280-CD03-E721DF17C1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882" y="693170"/>
            <a:ext cx="3728830" cy="151971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0A1C265-2447-573C-CDA9-24306CAD3D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4658" y="1707532"/>
            <a:ext cx="5482325" cy="568528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1A441631-F40D-DCC6-B618-255BCD30BC69}"/>
              </a:ext>
            </a:extLst>
          </p:cNvPr>
          <p:cNvSpPr txBox="1">
            <a:spLocks/>
          </p:cNvSpPr>
          <p:nvPr/>
        </p:nvSpPr>
        <p:spPr>
          <a:xfrm>
            <a:off x="769211" y="5371299"/>
            <a:ext cx="10653578" cy="4108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1400" b="0" dirty="0"/>
              <a:t>Fabián Calvo Castillo, Mario Martínez Guillén, Axel </a:t>
            </a:r>
            <a:r>
              <a:rPr lang="es-ES" sz="1400" b="0" dirty="0" err="1"/>
              <a:t>Valton</a:t>
            </a:r>
            <a:r>
              <a:rPr lang="es-ES" sz="1400" b="0" dirty="0"/>
              <a:t> Juan</a:t>
            </a:r>
          </a:p>
          <a:p>
            <a:pPr algn="ctr"/>
            <a:endParaRPr lang="es-ES" sz="1400" b="0" dirty="0"/>
          </a:p>
        </p:txBody>
      </p:sp>
    </p:spTree>
    <p:extLst>
      <p:ext uri="{BB962C8B-B14F-4D97-AF65-F5344CB8AC3E}">
        <p14:creationId xmlns:p14="http://schemas.microsoft.com/office/powerpoint/2010/main" val="246748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D65E89-38D9-43EA-410E-ABF19847C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400" dirty="0"/>
              <a:t>Índice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581866E0-0C16-6463-4D39-A79C175517FA}"/>
              </a:ext>
            </a:extLst>
          </p:cNvPr>
          <p:cNvGrpSpPr/>
          <p:nvPr/>
        </p:nvGrpSpPr>
        <p:grpSpPr>
          <a:xfrm>
            <a:off x="2476869" y="1642501"/>
            <a:ext cx="7238262" cy="4666859"/>
            <a:chOff x="2476869" y="1173951"/>
            <a:chExt cx="7238262" cy="4666859"/>
          </a:xfrm>
        </p:grpSpPr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46E05A93-A3E2-E72E-061C-7C59D338969A}"/>
                </a:ext>
              </a:extLst>
            </p:cNvPr>
            <p:cNvSpPr/>
            <p:nvPr/>
          </p:nvSpPr>
          <p:spPr>
            <a:xfrm>
              <a:off x="2476869" y="1173951"/>
              <a:ext cx="7238262" cy="599625"/>
            </a:xfrm>
            <a:custGeom>
              <a:avLst/>
              <a:gdLst>
                <a:gd name="connsiteX0" fmla="*/ 0 w 7238262"/>
                <a:gd name="connsiteY0" fmla="*/ 99939 h 599625"/>
                <a:gd name="connsiteX1" fmla="*/ 99939 w 7238262"/>
                <a:gd name="connsiteY1" fmla="*/ 0 h 599625"/>
                <a:gd name="connsiteX2" fmla="*/ 7138323 w 7238262"/>
                <a:gd name="connsiteY2" fmla="*/ 0 h 599625"/>
                <a:gd name="connsiteX3" fmla="*/ 7238262 w 7238262"/>
                <a:gd name="connsiteY3" fmla="*/ 99939 h 599625"/>
                <a:gd name="connsiteX4" fmla="*/ 7238262 w 7238262"/>
                <a:gd name="connsiteY4" fmla="*/ 499686 h 599625"/>
                <a:gd name="connsiteX5" fmla="*/ 7138323 w 7238262"/>
                <a:gd name="connsiteY5" fmla="*/ 599625 h 599625"/>
                <a:gd name="connsiteX6" fmla="*/ 99939 w 7238262"/>
                <a:gd name="connsiteY6" fmla="*/ 599625 h 599625"/>
                <a:gd name="connsiteX7" fmla="*/ 0 w 7238262"/>
                <a:gd name="connsiteY7" fmla="*/ 499686 h 599625"/>
                <a:gd name="connsiteX8" fmla="*/ 0 w 7238262"/>
                <a:gd name="connsiteY8" fmla="*/ 99939 h 599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38262" h="599625">
                  <a:moveTo>
                    <a:pt x="0" y="99939"/>
                  </a:moveTo>
                  <a:cubicBezTo>
                    <a:pt x="0" y="44744"/>
                    <a:pt x="44744" y="0"/>
                    <a:pt x="99939" y="0"/>
                  </a:cubicBezTo>
                  <a:lnTo>
                    <a:pt x="7138323" y="0"/>
                  </a:lnTo>
                  <a:cubicBezTo>
                    <a:pt x="7193518" y="0"/>
                    <a:pt x="7238262" y="44744"/>
                    <a:pt x="7238262" y="99939"/>
                  </a:cubicBezTo>
                  <a:lnTo>
                    <a:pt x="7238262" y="499686"/>
                  </a:lnTo>
                  <a:cubicBezTo>
                    <a:pt x="7238262" y="554881"/>
                    <a:pt x="7193518" y="599625"/>
                    <a:pt x="7138323" y="599625"/>
                  </a:cubicBezTo>
                  <a:lnTo>
                    <a:pt x="99939" y="599625"/>
                  </a:lnTo>
                  <a:cubicBezTo>
                    <a:pt x="44744" y="599625"/>
                    <a:pt x="0" y="554881"/>
                    <a:pt x="0" y="499686"/>
                  </a:cubicBezTo>
                  <a:lnTo>
                    <a:pt x="0" y="99939"/>
                  </a:lnTo>
                  <a:close/>
                </a:path>
              </a:pathLst>
            </a:cu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4521" tIns="124521" rIns="124521" bIns="124521" numCol="1" spcCol="1270" anchor="ctr" anchorCtr="0">
              <a:noAutofit/>
            </a:bodyPr>
            <a:lstStyle/>
            <a:p>
              <a:pPr marL="0" lvl="0" indent="0" algn="l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500" b="0" i="0" kern="1200" baseline="0"/>
                <a:t>Introducción</a:t>
              </a:r>
              <a:endParaRPr lang="es-ES" sz="2500" kern="1200"/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E9163783-D2D3-5A3D-C779-FEB38A564A4C}"/>
                </a:ext>
              </a:extLst>
            </p:cNvPr>
            <p:cNvSpPr/>
            <p:nvPr/>
          </p:nvSpPr>
          <p:spPr>
            <a:xfrm>
              <a:off x="2476869" y="1845576"/>
              <a:ext cx="7238262" cy="599625"/>
            </a:xfrm>
            <a:custGeom>
              <a:avLst/>
              <a:gdLst>
                <a:gd name="connsiteX0" fmla="*/ 0 w 7238262"/>
                <a:gd name="connsiteY0" fmla="*/ 99939 h 599625"/>
                <a:gd name="connsiteX1" fmla="*/ 99939 w 7238262"/>
                <a:gd name="connsiteY1" fmla="*/ 0 h 599625"/>
                <a:gd name="connsiteX2" fmla="*/ 7138323 w 7238262"/>
                <a:gd name="connsiteY2" fmla="*/ 0 h 599625"/>
                <a:gd name="connsiteX3" fmla="*/ 7238262 w 7238262"/>
                <a:gd name="connsiteY3" fmla="*/ 99939 h 599625"/>
                <a:gd name="connsiteX4" fmla="*/ 7238262 w 7238262"/>
                <a:gd name="connsiteY4" fmla="*/ 499686 h 599625"/>
                <a:gd name="connsiteX5" fmla="*/ 7138323 w 7238262"/>
                <a:gd name="connsiteY5" fmla="*/ 599625 h 599625"/>
                <a:gd name="connsiteX6" fmla="*/ 99939 w 7238262"/>
                <a:gd name="connsiteY6" fmla="*/ 599625 h 599625"/>
                <a:gd name="connsiteX7" fmla="*/ 0 w 7238262"/>
                <a:gd name="connsiteY7" fmla="*/ 499686 h 599625"/>
                <a:gd name="connsiteX8" fmla="*/ 0 w 7238262"/>
                <a:gd name="connsiteY8" fmla="*/ 99939 h 599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38262" h="599625">
                  <a:moveTo>
                    <a:pt x="0" y="99939"/>
                  </a:moveTo>
                  <a:cubicBezTo>
                    <a:pt x="0" y="44744"/>
                    <a:pt x="44744" y="0"/>
                    <a:pt x="99939" y="0"/>
                  </a:cubicBezTo>
                  <a:lnTo>
                    <a:pt x="7138323" y="0"/>
                  </a:lnTo>
                  <a:cubicBezTo>
                    <a:pt x="7193518" y="0"/>
                    <a:pt x="7238262" y="44744"/>
                    <a:pt x="7238262" y="99939"/>
                  </a:cubicBezTo>
                  <a:lnTo>
                    <a:pt x="7238262" y="499686"/>
                  </a:lnTo>
                  <a:cubicBezTo>
                    <a:pt x="7238262" y="554881"/>
                    <a:pt x="7193518" y="599625"/>
                    <a:pt x="7138323" y="599625"/>
                  </a:cubicBezTo>
                  <a:lnTo>
                    <a:pt x="99939" y="599625"/>
                  </a:lnTo>
                  <a:cubicBezTo>
                    <a:pt x="44744" y="599625"/>
                    <a:pt x="0" y="554881"/>
                    <a:pt x="0" y="499686"/>
                  </a:cubicBezTo>
                  <a:lnTo>
                    <a:pt x="0" y="99939"/>
                  </a:lnTo>
                  <a:close/>
                </a:path>
              </a:pathLst>
            </a:cu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4521" tIns="124521" rIns="124521" bIns="124521" numCol="1" spcCol="1270" anchor="ctr" anchorCtr="0">
              <a:noAutofit/>
            </a:bodyPr>
            <a:lstStyle/>
            <a:p>
              <a:pPr marL="0" lvl="0" indent="0" algn="l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500" b="0" i="0" kern="1200" baseline="0"/>
                <a:t>Método</a:t>
              </a:r>
              <a:endParaRPr lang="es-ES" sz="2500" kern="1200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24B90CAD-6B01-C742-8E22-9CA5749344BC}"/>
                </a:ext>
              </a:extLst>
            </p:cNvPr>
            <p:cNvSpPr/>
            <p:nvPr/>
          </p:nvSpPr>
          <p:spPr>
            <a:xfrm>
              <a:off x="2476869" y="2445201"/>
              <a:ext cx="7238262" cy="1035000"/>
            </a:xfrm>
            <a:custGeom>
              <a:avLst/>
              <a:gdLst>
                <a:gd name="connsiteX0" fmla="*/ 0 w 7238262"/>
                <a:gd name="connsiteY0" fmla="*/ 0 h 1035000"/>
                <a:gd name="connsiteX1" fmla="*/ 7238262 w 7238262"/>
                <a:gd name="connsiteY1" fmla="*/ 0 h 1035000"/>
                <a:gd name="connsiteX2" fmla="*/ 7238262 w 7238262"/>
                <a:gd name="connsiteY2" fmla="*/ 1035000 h 1035000"/>
                <a:gd name="connsiteX3" fmla="*/ 0 w 7238262"/>
                <a:gd name="connsiteY3" fmla="*/ 1035000 h 1035000"/>
                <a:gd name="connsiteX4" fmla="*/ 0 w 7238262"/>
                <a:gd name="connsiteY4" fmla="*/ 0 h 10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8262" h="1035000">
                  <a:moveTo>
                    <a:pt x="0" y="0"/>
                  </a:moveTo>
                  <a:lnTo>
                    <a:pt x="7238262" y="0"/>
                  </a:lnTo>
                  <a:lnTo>
                    <a:pt x="7238262" y="1035000"/>
                  </a:lnTo>
                  <a:lnTo>
                    <a:pt x="0" y="1035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29815" tIns="31750" rIns="177800" bIns="31750" numCol="1" spcCol="1270" anchor="t" anchorCtr="0">
              <a:noAutofit/>
            </a:bodyPr>
            <a:lstStyle/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"/>
              </a:pPr>
              <a:r>
                <a:rPr lang="es-ES" sz="2000" b="0" i="0" kern="1200" baseline="0" dirty="0"/>
                <a:t>Datos y codificación</a:t>
              </a:r>
              <a:endParaRPr lang="es-ES" sz="2000" kern="1200" dirty="0"/>
            </a:p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"/>
              </a:pPr>
              <a:r>
                <a:rPr lang="es-ES" sz="2000" b="0" i="0" kern="1200" baseline="0" dirty="0"/>
                <a:t>Limpieza y formato “</a:t>
              </a:r>
              <a:r>
                <a:rPr lang="es-ES" sz="2000" b="0" i="0" kern="1200" baseline="0" dirty="0" err="1"/>
                <a:t>tidy</a:t>
              </a:r>
              <a:r>
                <a:rPr lang="es-ES" sz="2000" b="0" i="0" kern="1200" baseline="0" dirty="0"/>
                <a:t>”</a:t>
              </a:r>
              <a:endParaRPr lang="es-ES" sz="2000" kern="1200" dirty="0"/>
            </a:p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"/>
              </a:pPr>
              <a:r>
                <a:rPr lang="es-ES" sz="2000" b="0" i="0" kern="1200" baseline="0" dirty="0"/>
                <a:t>Enriquecimiento con población</a:t>
              </a:r>
              <a:endParaRPr lang="es-ES" sz="2000" kern="1200" dirty="0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2D9C3AB7-B68F-9234-EC89-F5B169AF4CBA}"/>
                </a:ext>
              </a:extLst>
            </p:cNvPr>
            <p:cNvSpPr/>
            <p:nvPr/>
          </p:nvSpPr>
          <p:spPr>
            <a:xfrm>
              <a:off x="2476869" y="3480202"/>
              <a:ext cx="7238262" cy="599625"/>
            </a:xfrm>
            <a:custGeom>
              <a:avLst/>
              <a:gdLst>
                <a:gd name="connsiteX0" fmla="*/ 0 w 7238262"/>
                <a:gd name="connsiteY0" fmla="*/ 99939 h 599625"/>
                <a:gd name="connsiteX1" fmla="*/ 99939 w 7238262"/>
                <a:gd name="connsiteY1" fmla="*/ 0 h 599625"/>
                <a:gd name="connsiteX2" fmla="*/ 7138323 w 7238262"/>
                <a:gd name="connsiteY2" fmla="*/ 0 h 599625"/>
                <a:gd name="connsiteX3" fmla="*/ 7238262 w 7238262"/>
                <a:gd name="connsiteY3" fmla="*/ 99939 h 599625"/>
                <a:gd name="connsiteX4" fmla="*/ 7238262 w 7238262"/>
                <a:gd name="connsiteY4" fmla="*/ 499686 h 599625"/>
                <a:gd name="connsiteX5" fmla="*/ 7138323 w 7238262"/>
                <a:gd name="connsiteY5" fmla="*/ 599625 h 599625"/>
                <a:gd name="connsiteX6" fmla="*/ 99939 w 7238262"/>
                <a:gd name="connsiteY6" fmla="*/ 599625 h 599625"/>
                <a:gd name="connsiteX7" fmla="*/ 0 w 7238262"/>
                <a:gd name="connsiteY7" fmla="*/ 499686 h 599625"/>
                <a:gd name="connsiteX8" fmla="*/ 0 w 7238262"/>
                <a:gd name="connsiteY8" fmla="*/ 99939 h 599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38262" h="599625">
                  <a:moveTo>
                    <a:pt x="0" y="99939"/>
                  </a:moveTo>
                  <a:cubicBezTo>
                    <a:pt x="0" y="44744"/>
                    <a:pt x="44744" y="0"/>
                    <a:pt x="99939" y="0"/>
                  </a:cubicBezTo>
                  <a:lnTo>
                    <a:pt x="7138323" y="0"/>
                  </a:lnTo>
                  <a:cubicBezTo>
                    <a:pt x="7193518" y="0"/>
                    <a:pt x="7238262" y="44744"/>
                    <a:pt x="7238262" y="99939"/>
                  </a:cubicBezTo>
                  <a:lnTo>
                    <a:pt x="7238262" y="499686"/>
                  </a:lnTo>
                  <a:cubicBezTo>
                    <a:pt x="7238262" y="554881"/>
                    <a:pt x="7193518" y="599625"/>
                    <a:pt x="7138323" y="599625"/>
                  </a:cubicBezTo>
                  <a:lnTo>
                    <a:pt x="99939" y="599625"/>
                  </a:lnTo>
                  <a:cubicBezTo>
                    <a:pt x="44744" y="599625"/>
                    <a:pt x="0" y="554881"/>
                    <a:pt x="0" y="499686"/>
                  </a:cubicBezTo>
                  <a:lnTo>
                    <a:pt x="0" y="99939"/>
                  </a:lnTo>
                  <a:close/>
                </a:path>
              </a:pathLst>
            </a:cu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4521" tIns="124521" rIns="124521" bIns="124521" numCol="1" spcCol="1270" anchor="ctr" anchorCtr="0">
              <a:noAutofit/>
            </a:bodyPr>
            <a:lstStyle/>
            <a:p>
              <a:pPr marL="0" lvl="0" indent="0" algn="l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500" b="0" i="0" kern="1200" baseline="0"/>
                <a:t>Resultados </a:t>
              </a:r>
              <a:endParaRPr lang="es-ES" sz="2500" kern="1200"/>
            </a:p>
          </p:txBody>
        </p:sp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866ABFF6-C3C2-B8B6-F326-AC3CD686755F}"/>
                </a:ext>
              </a:extLst>
            </p:cNvPr>
            <p:cNvSpPr/>
            <p:nvPr/>
          </p:nvSpPr>
          <p:spPr>
            <a:xfrm>
              <a:off x="2476869" y="4079827"/>
              <a:ext cx="7238262" cy="1208453"/>
            </a:xfrm>
            <a:custGeom>
              <a:avLst/>
              <a:gdLst>
                <a:gd name="connsiteX0" fmla="*/ 0 w 7238262"/>
                <a:gd name="connsiteY0" fmla="*/ 0 h 2070000"/>
                <a:gd name="connsiteX1" fmla="*/ 7238262 w 7238262"/>
                <a:gd name="connsiteY1" fmla="*/ 0 h 2070000"/>
                <a:gd name="connsiteX2" fmla="*/ 7238262 w 7238262"/>
                <a:gd name="connsiteY2" fmla="*/ 2070000 h 2070000"/>
                <a:gd name="connsiteX3" fmla="*/ 0 w 7238262"/>
                <a:gd name="connsiteY3" fmla="*/ 2070000 h 2070000"/>
                <a:gd name="connsiteX4" fmla="*/ 0 w 7238262"/>
                <a:gd name="connsiteY4" fmla="*/ 0 h 207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8262" h="2070000">
                  <a:moveTo>
                    <a:pt x="0" y="0"/>
                  </a:moveTo>
                  <a:lnTo>
                    <a:pt x="7238262" y="0"/>
                  </a:lnTo>
                  <a:lnTo>
                    <a:pt x="7238262" y="2070000"/>
                  </a:lnTo>
                  <a:lnTo>
                    <a:pt x="0" y="2070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29815" tIns="31750" rIns="177800" bIns="31750" numCol="2" spcCol="1270" anchor="t" anchorCtr="0">
              <a:noAutofit/>
            </a:bodyPr>
            <a:lstStyle/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"/>
              </a:pPr>
              <a:r>
                <a:rPr lang="es-ES" sz="2000" b="0" i="0" kern="1200" baseline="0" dirty="0"/>
                <a:t>Evolución Anual</a:t>
              </a:r>
              <a:endParaRPr lang="es-ES" sz="2000" kern="1200" dirty="0"/>
            </a:p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"/>
              </a:pPr>
              <a:r>
                <a:rPr lang="es-ES" sz="2000" kern="1200" dirty="0"/>
                <a:t>Meses</a:t>
              </a:r>
            </a:p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"/>
              </a:pPr>
              <a:r>
                <a:rPr lang="es-ES" sz="2000" b="0" i="0" kern="1200" baseline="0" dirty="0"/>
                <a:t>Se</a:t>
              </a:r>
              <a:r>
                <a:rPr lang="es-ES" sz="2000" kern="1200" dirty="0"/>
                <a:t>xo</a:t>
              </a:r>
            </a:p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"/>
              </a:pPr>
              <a:r>
                <a:rPr lang="es-ES" sz="2000" b="0" i="0" kern="1200" baseline="0" dirty="0"/>
                <a:t>Nacionalidad</a:t>
              </a:r>
              <a:endParaRPr lang="es-ES" sz="2000" kern="1200" dirty="0"/>
            </a:p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"/>
              </a:pPr>
              <a:r>
                <a:rPr lang="es-ES" sz="2000" kern="1200" dirty="0"/>
                <a:t>Edad</a:t>
              </a:r>
            </a:p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"/>
              </a:pPr>
              <a:r>
                <a:rPr lang="es-ES" sz="2000" b="0" i="0" kern="1200" baseline="0" dirty="0"/>
                <a:t>CCAA</a:t>
              </a:r>
              <a:endParaRPr lang="es-ES" sz="2000" kern="1200" dirty="0"/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50A4205B-0264-FAB1-480D-9795DD7F2CEB}"/>
                </a:ext>
              </a:extLst>
            </p:cNvPr>
            <p:cNvSpPr/>
            <p:nvPr/>
          </p:nvSpPr>
          <p:spPr>
            <a:xfrm>
              <a:off x="2476869" y="5241185"/>
              <a:ext cx="7238262" cy="599625"/>
            </a:xfrm>
            <a:custGeom>
              <a:avLst/>
              <a:gdLst>
                <a:gd name="connsiteX0" fmla="*/ 0 w 7238262"/>
                <a:gd name="connsiteY0" fmla="*/ 99939 h 599625"/>
                <a:gd name="connsiteX1" fmla="*/ 99939 w 7238262"/>
                <a:gd name="connsiteY1" fmla="*/ 0 h 599625"/>
                <a:gd name="connsiteX2" fmla="*/ 7138323 w 7238262"/>
                <a:gd name="connsiteY2" fmla="*/ 0 h 599625"/>
                <a:gd name="connsiteX3" fmla="*/ 7238262 w 7238262"/>
                <a:gd name="connsiteY3" fmla="*/ 99939 h 599625"/>
                <a:gd name="connsiteX4" fmla="*/ 7238262 w 7238262"/>
                <a:gd name="connsiteY4" fmla="*/ 499686 h 599625"/>
                <a:gd name="connsiteX5" fmla="*/ 7138323 w 7238262"/>
                <a:gd name="connsiteY5" fmla="*/ 599625 h 599625"/>
                <a:gd name="connsiteX6" fmla="*/ 99939 w 7238262"/>
                <a:gd name="connsiteY6" fmla="*/ 599625 h 599625"/>
                <a:gd name="connsiteX7" fmla="*/ 0 w 7238262"/>
                <a:gd name="connsiteY7" fmla="*/ 499686 h 599625"/>
                <a:gd name="connsiteX8" fmla="*/ 0 w 7238262"/>
                <a:gd name="connsiteY8" fmla="*/ 99939 h 599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38262" h="599625">
                  <a:moveTo>
                    <a:pt x="0" y="99939"/>
                  </a:moveTo>
                  <a:cubicBezTo>
                    <a:pt x="0" y="44744"/>
                    <a:pt x="44744" y="0"/>
                    <a:pt x="99939" y="0"/>
                  </a:cubicBezTo>
                  <a:lnTo>
                    <a:pt x="7138323" y="0"/>
                  </a:lnTo>
                  <a:cubicBezTo>
                    <a:pt x="7193518" y="0"/>
                    <a:pt x="7238262" y="44744"/>
                    <a:pt x="7238262" y="99939"/>
                  </a:cubicBezTo>
                  <a:lnTo>
                    <a:pt x="7238262" y="499686"/>
                  </a:lnTo>
                  <a:cubicBezTo>
                    <a:pt x="7238262" y="554881"/>
                    <a:pt x="7193518" y="599625"/>
                    <a:pt x="7138323" y="599625"/>
                  </a:cubicBezTo>
                  <a:lnTo>
                    <a:pt x="99939" y="599625"/>
                  </a:lnTo>
                  <a:cubicBezTo>
                    <a:pt x="44744" y="599625"/>
                    <a:pt x="0" y="554881"/>
                    <a:pt x="0" y="499686"/>
                  </a:cubicBezTo>
                  <a:lnTo>
                    <a:pt x="0" y="99939"/>
                  </a:lnTo>
                  <a:close/>
                </a:path>
              </a:pathLst>
            </a:cu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4521" tIns="124521" rIns="124521" bIns="124521" numCol="1" spcCol="1270" anchor="ctr" anchorCtr="0">
              <a:noAutofit/>
            </a:bodyPr>
            <a:lstStyle/>
            <a:p>
              <a:pPr marL="0" lvl="0" indent="0" algn="l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500" b="0" i="0" kern="1200" baseline="0"/>
                <a:t>Conclusiones</a:t>
              </a:r>
              <a:endParaRPr lang="es-ES" sz="2500" kern="1200"/>
            </a:p>
          </p:txBody>
        </p:sp>
      </p:grpSp>
    </p:spTree>
    <p:extLst>
      <p:ext uri="{BB962C8B-B14F-4D97-AF65-F5344CB8AC3E}">
        <p14:creationId xmlns:p14="http://schemas.microsoft.com/office/powerpoint/2010/main" val="1083582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7AFE7D-BD58-75EE-95AF-A47550AB3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sz="4400" dirty="0"/>
              <a:t>Introducción</a:t>
            </a:r>
            <a:br>
              <a:rPr lang="es-ES" dirty="0"/>
            </a:br>
            <a:endParaRPr lang="es-E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0D98FB3-FF87-ADBF-1F1C-B4924DAA1D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648" y="1442379"/>
            <a:ext cx="1021237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Problema de salud pública: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s-ES" altLang="es-ES" sz="2800" dirty="0">
                <a:latin typeface="Arial" panose="020B0604020202020204" pitchFamily="34" charset="0"/>
              </a:rPr>
              <a:t>N</a:t>
            </a: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ecesidad de comprender </a:t>
            </a:r>
            <a:r>
              <a:rPr kumimoji="0" lang="es-ES" altLang="es-E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tendencias y disparidades</a:t>
            </a:r>
            <a:r>
              <a:rPr kumimoji="0" lang="es-ES" altLang="es-E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Periodo: </a:t>
            </a:r>
            <a:r>
              <a:rPr kumimoji="0" lang="es-ES" altLang="es-E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2014–2023 (INE)</a:t>
            </a: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Variables Clave: </a:t>
            </a:r>
            <a:r>
              <a:rPr kumimoji="0" lang="es-ES" altLang="es-E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Sexo, Edad, </a:t>
            </a:r>
            <a:r>
              <a:rPr lang="es-ES" altLang="es-ES" sz="2800" b="1" dirty="0">
                <a:latin typeface="Arial" panose="020B0604020202020204" pitchFamily="34" charset="0"/>
              </a:rPr>
              <a:t>M</a:t>
            </a:r>
            <a:r>
              <a:rPr kumimoji="0" lang="es-ES" altLang="es-E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es, Nacionalidad, CCAA y</a:t>
            </a:r>
            <a:r>
              <a:rPr lang="es-ES" altLang="es-ES" sz="2800" dirty="0">
                <a:latin typeface="Arial" panose="020B0604020202020204" pitchFamily="34" charset="0"/>
              </a:rPr>
              <a:t> </a:t>
            </a:r>
            <a:r>
              <a:rPr lang="es-ES" altLang="es-ES" sz="2800" b="1" dirty="0">
                <a:latin typeface="Arial" panose="020B0604020202020204" pitchFamily="34" charset="0"/>
              </a:rPr>
              <a:t>Población</a:t>
            </a:r>
            <a:endParaRPr kumimoji="0" lang="es-ES" altLang="es-E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239FD8A-3AFF-135B-7EE1-A4C97BE31D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648" y="3790748"/>
            <a:ext cx="11191425" cy="2739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ES" altLang="es-ES" sz="3200" b="1" dirty="0">
                <a:latin typeface="Arial" panose="020B0604020202020204" pitchFamily="34" charset="0"/>
              </a:rPr>
              <a:t>Objetivos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s-ES" altLang="es-ES" sz="28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altLang="es-ES" sz="2800" dirty="0">
                <a:latin typeface="Arial" panose="020B0604020202020204" pitchFamily="34" charset="0"/>
              </a:rPr>
              <a:t> Describir </a:t>
            </a:r>
            <a:r>
              <a:rPr lang="es-ES" altLang="es-ES" sz="2800" b="1" dirty="0">
                <a:latin typeface="Arial" panose="020B0604020202020204" pitchFamily="34" charset="0"/>
              </a:rPr>
              <a:t>patrones y tendencias</a:t>
            </a:r>
            <a:r>
              <a:rPr lang="es-ES" altLang="es-ES" sz="2800" dirty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altLang="es-ES" sz="2800" dirty="0">
                <a:latin typeface="Arial" panose="020B0604020202020204" pitchFamily="34" charset="0"/>
              </a:rPr>
              <a:t> Comparar grupos demográficos y geográficos.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altLang="es-ES" sz="2800" dirty="0">
                <a:latin typeface="Arial" panose="020B0604020202020204" pitchFamily="34" charset="0"/>
              </a:rPr>
              <a:t> Identificar posibles </a:t>
            </a:r>
            <a:r>
              <a:rPr lang="es-ES" altLang="es-ES" sz="2800" b="1" dirty="0">
                <a:latin typeface="Arial" panose="020B0604020202020204" pitchFamily="34" charset="0"/>
              </a:rPr>
              <a:t>estacionalidades</a:t>
            </a:r>
            <a:r>
              <a:rPr lang="es-ES" altLang="es-ES" sz="2800" dirty="0">
                <a:latin typeface="Arial" panose="020B0604020202020204" pitchFamily="34" charset="0"/>
              </a:rPr>
              <a:t> (mensuales)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s-ES" altLang="es-ES" sz="28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122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9E58A4-526A-580B-A5B7-D4E25F40C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400" dirty="0"/>
              <a:t>Método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1C843F67-FF5A-8601-5EBE-8E5DA1F1C8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924278"/>
              </p:ext>
            </p:extLst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3984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5B7FE8-75A5-98BE-88AA-D87F5226E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Datos y Codificación</a:t>
            </a:r>
            <a:endParaRPr lang="es-ES" dirty="0"/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D15AFD6C-48CF-1AAA-4A3A-17A1E3D86EF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067302" y="1755742"/>
            <a:ext cx="7512050" cy="3346516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2E8ED00E-80F9-CF1A-78D8-8BB1F680D96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12648" y="2274838"/>
            <a:ext cx="315578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MSE (Mes–Sexo–Edad) 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UTF-8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CSE (CCAA–Sexo–Edad) 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ISO-8859-1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NS (Nacionalidad–Sexo) 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ISO-8859-1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Población: 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Excel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(CCAA y Nacionalidad-Sexo)</a:t>
            </a:r>
          </a:p>
        </p:txBody>
      </p:sp>
    </p:spTree>
    <p:extLst>
      <p:ext uri="{BB962C8B-B14F-4D97-AF65-F5344CB8AC3E}">
        <p14:creationId xmlns:p14="http://schemas.microsoft.com/office/powerpoint/2010/main" val="3899503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B4871-A0EC-3047-0F6D-25128A640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F17587-B8A0-6458-B87A-9248B055D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Datos y Codificación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A3B3835-B46A-5832-5653-8B067696154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12648" y="2371878"/>
            <a:ext cx="315578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MSE (Mes–Sexo–Edad) 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UTF-8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CSE (CCAA–Sexo–Edad) 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ISO-8859-1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NS (Nacionalidad–Sexo) 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ISO-8859-1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Población: 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Excel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(CCAA y Nacionalidad-Sexo)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BBFC6EF-E0DC-29E7-B41E-EE49C00D5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303" y="1486818"/>
            <a:ext cx="7512049" cy="3884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040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13396B-1CEE-0B8A-3F4E-C3CBABB51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Tidy</a:t>
            </a:r>
            <a:endParaRPr lang="es-ES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49891C95-F478-226A-9E6D-FFC8ED5B9FC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12648" y="2073542"/>
            <a:ext cx="5181600" cy="995094"/>
          </a:xfrm>
          <a:prstGeom prst="rect">
            <a:avLst/>
          </a:prstGeom>
        </p:spPr>
      </p:pic>
      <p:pic>
        <p:nvPicPr>
          <p:cNvPr id="14" name="Marcador de contenido 13">
            <a:extLst>
              <a:ext uri="{FF2B5EF4-FFF2-40B4-BE49-F238E27FC236}">
                <a16:creationId xmlns:a16="http://schemas.microsoft.com/office/drawing/2014/main" id="{A3878B61-9CC3-1F69-A4D2-7B92B637AB1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b="29453"/>
          <a:stretch>
            <a:fillRect/>
          </a:stretch>
        </p:blipFill>
        <p:spPr>
          <a:xfrm>
            <a:off x="6096000" y="3209122"/>
            <a:ext cx="5181600" cy="2719924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77F506F4-787A-B2A8-D6AC-06F578080A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8848" b="46320"/>
          <a:stretch>
            <a:fillRect/>
          </a:stretch>
        </p:blipFill>
        <p:spPr>
          <a:xfrm>
            <a:off x="612649" y="3209121"/>
            <a:ext cx="5190284" cy="2719924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76CAF172-604B-0E04-935E-A7D81F6C9F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9128" y="2073542"/>
            <a:ext cx="4187941" cy="995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963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23FE8C-A68E-104F-2283-926E8643F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Control de </a:t>
            </a:r>
            <a:r>
              <a:rPr lang="es-ES" dirty="0" err="1"/>
              <a:t>Outilers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F4A1FE-36B5-618B-4816-D7677DB03C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417231"/>
            <a:ext cx="5181600" cy="467099"/>
          </a:xfrm>
        </p:spPr>
        <p:txBody>
          <a:bodyPr/>
          <a:lstStyle/>
          <a:p>
            <a:r>
              <a:rPr lang="es-ES" b="1" dirty="0"/>
              <a:t>Criterio - </a:t>
            </a:r>
            <a:r>
              <a:rPr lang="es-ES" b="1" dirty="0" err="1"/>
              <a:t>BoxPlot</a:t>
            </a:r>
            <a:endParaRPr lang="es-ES" b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0D4E24A-2EF2-ED91-4423-742AC83C2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900" y="2173910"/>
            <a:ext cx="8030696" cy="114316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35F377F-1434-6764-75B9-7A03A27F8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888" y="3540931"/>
            <a:ext cx="9530720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793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A79A8-5EA8-857E-4CE5-0CA66CAEB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4B7BD4-9612-5FAD-F63D-88FF075E6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Control de </a:t>
            </a:r>
            <a:r>
              <a:rPr lang="es-ES" dirty="0" err="1"/>
              <a:t>Outilers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091842-29AC-D70B-7FE4-BE4B583BA8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417231"/>
            <a:ext cx="5181600" cy="467099"/>
          </a:xfrm>
        </p:spPr>
        <p:txBody>
          <a:bodyPr/>
          <a:lstStyle/>
          <a:p>
            <a:r>
              <a:rPr lang="es-ES" b="1" dirty="0"/>
              <a:t>Criterio - </a:t>
            </a:r>
            <a:r>
              <a:rPr lang="es-ES" b="1" dirty="0" err="1"/>
              <a:t>BoxPlot</a:t>
            </a:r>
            <a:endParaRPr lang="es-ES" b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FF87A9E-6EA5-3F75-E8C1-1DA7632B0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900" y="2173910"/>
            <a:ext cx="8030696" cy="114316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1E641AB-9FCF-6006-29C7-CED798DC2A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91822" y="3540931"/>
            <a:ext cx="8604852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832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F8B3-F6F6-0C86-AD5E-319FD2332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Evolución Anual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FCDA769E-D17A-F371-3C46-2F1B5C569B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1353" y="1228661"/>
            <a:ext cx="8669294" cy="5349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776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90601F-BE8D-6DD6-D50A-65A3B32B4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Distribución por Meses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875D82A6-C921-EB52-5C76-D7E2DB4C8F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7236" y="1349360"/>
            <a:ext cx="8037527" cy="4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353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8242C1-6BBC-5FA6-719F-BDE3B6EEA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Sexo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FB93564-B74B-BB95-AB88-1A58ACCFA4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0131" y="1778794"/>
            <a:ext cx="7239000" cy="446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203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1F368-1DA6-7EC9-7BDC-7C7DB8250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9F21D3-7DD1-4144-951A-3FABCC79B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Sexo - Wilcoxon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546BB4A-901F-9B4B-6A1E-1222F2604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995" y="4599074"/>
            <a:ext cx="6737704" cy="143847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89F4443-6CC8-A374-3C30-E371B2E5C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1842" y="1274385"/>
            <a:ext cx="6878010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201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B33111E6-26B2-B265-961B-D9FD8692F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Nacionalidad</a:t>
            </a:r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AB345517-D290-A4AA-D3F5-1CEBC0A60C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8551" y="1716723"/>
            <a:ext cx="7441772" cy="459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396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647D6-3D59-C571-944D-0087DFDE7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F40E2-BD0C-5995-9ED9-4122BE611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Nacionalidad - Wilcoxon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EEEBF94-CD5D-4146-3D09-9B6C3EF64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1406" y="1285112"/>
            <a:ext cx="6716062" cy="466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7942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5ABDB2-3996-7504-EF8C-F52F4CD05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Edad y Sexo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85D5BA46-3D00-FEE6-D30E-9A7B9A1711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0131" y="1778794"/>
            <a:ext cx="7239000" cy="446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7006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1590F4-9397-764D-C9B8-74DA5E2FD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CCAA - Totales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72560185-4F3B-25FF-4155-D862845690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36" b="17436"/>
          <a:stretch/>
        </p:blipFill>
        <p:spPr>
          <a:xfrm>
            <a:off x="966649" y="1550269"/>
            <a:ext cx="10258702" cy="412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6222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DE21D6-B8CC-BB83-9569-B1DA7FE44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CCAA – Correlación Población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30E315AE-EB15-BFB6-2C4F-3065C45AF8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722" y="1993196"/>
            <a:ext cx="6754750" cy="416839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764701C-B74C-6967-B27A-1B61426603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9336"/>
          <a:stretch>
            <a:fillRect/>
          </a:stretch>
        </p:blipFill>
        <p:spPr>
          <a:xfrm>
            <a:off x="7192099" y="2305494"/>
            <a:ext cx="4718179" cy="35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856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10574-F465-9CE2-C4F1-E44DC89F6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4DEEC0-AA09-1DDD-42FC-0C532C1E5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CCAA – Cada 100.000 Hab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21992F8C-F83F-90BB-A07E-3119F55709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728" b="15144"/>
          <a:stretch>
            <a:fillRect/>
          </a:stretch>
        </p:blipFill>
        <p:spPr>
          <a:xfrm>
            <a:off x="966649" y="1680898"/>
            <a:ext cx="10258702" cy="412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596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CA34FF-D435-07D6-E6E7-0F9B98993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E93A2D-62E7-6E15-53C2-58EE9C39F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532652"/>
            <a:ext cx="10653579" cy="4593828"/>
          </a:xfrm>
        </p:spPr>
        <p:txBody>
          <a:bodyPr>
            <a:normAutofit fontScale="85000" lnSpcReduction="20000"/>
          </a:bodyPr>
          <a:lstStyle/>
          <a:p>
            <a:r>
              <a:rPr lang="es-ES" b="1" dirty="0"/>
              <a:t>Patrones identificados:</a:t>
            </a:r>
            <a:endParaRPr lang="es-ES" dirty="0"/>
          </a:p>
          <a:p>
            <a:pPr lvl="1"/>
            <a:r>
              <a:rPr lang="es-ES" dirty="0"/>
              <a:t>Visualizaciones, </a:t>
            </a:r>
            <a:r>
              <a:rPr lang="es-ES" dirty="0" err="1"/>
              <a:t>tests</a:t>
            </a:r>
            <a:r>
              <a:rPr lang="es-ES" dirty="0"/>
              <a:t> y correlaciones → relación clara entre </a:t>
            </a:r>
            <a:r>
              <a:rPr lang="es-ES" b="1" dirty="0"/>
              <a:t>tasas</a:t>
            </a:r>
            <a:r>
              <a:rPr lang="es-ES" dirty="0"/>
              <a:t> y variables </a:t>
            </a:r>
            <a:r>
              <a:rPr lang="es-ES" b="1" dirty="0"/>
              <a:t>sociodemográficas</a:t>
            </a:r>
            <a:r>
              <a:rPr lang="es-ES" dirty="0"/>
              <a:t> (sexo, nacionalidad, estructura poblacional).</a:t>
            </a:r>
          </a:p>
          <a:p>
            <a:r>
              <a:rPr lang="es-ES" b="1" dirty="0"/>
              <a:t>Diferencias por sexo (clave):</a:t>
            </a:r>
            <a:endParaRPr lang="es-ES" dirty="0"/>
          </a:p>
          <a:p>
            <a:pPr lvl="1"/>
            <a:r>
              <a:rPr lang="es-ES" dirty="0"/>
              <a:t>Tasas </a:t>
            </a:r>
            <a:r>
              <a:rPr lang="es-ES" b="1" dirty="0"/>
              <a:t>notablemente superiores</a:t>
            </a:r>
            <a:r>
              <a:rPr lang="es-ES" dirty="0"/>
              <a:t> en un sexo → requiere </a:t>
            </a:r>
            <a:r>
              <a:rPr lang="es-ES" b="1" dirty="0"/>
              <a:t>prevención específica</a:t>
            </a:r>
            <a:r>
              <a:rPr lang="es-ES" dirty="0"/>
              <a:t> y </a:t>
            </a:r>
            <a:r>
              <a:rPr lang="es-ES" b="1" dirty="0"/>
              <a:t>adaptada</a:t>
            </a:r>
            <a:r>
              <a:rPr lang="es-ES" dirty="0"/>
              <a:t>.</a:t>
            </a:r>
          </a:p>
          <a:p>
            <a:r>
              <a:rPr lang="es-ES" b="1" dirty="0"/>
              <a:t>Estacionalidad:</a:t>
            </a:r>
            <a:endParaRPr lang="es-ES" dirty="0"/>
          </a:p>
          <a:p>
            <a:pPr lvl="1"/>
            <a:r>
              <a:rPr lang="es-ES" b="1" dirty="0"/>
              <a:t>Mayor concentración</a:t>
            </a:r>
            <a:r>
              <a:rPr lang="es-ES" dirty="0"/>
              <a:t> en </a:t>
            </a:r>
            <a:r>
              <a:rPr lang="es-ES" b="1" dirty="0"/>
              <a:t>meses de verano</a:t>
            </a:r>
            <a:r>
              <a:rPr lang="es-ES" dirty="0"/>
              <a:t>.</a:t>
            </a:r>
          </a:p>
          <a:p>
            <a:r>
              <a:rPr lang="es-ES" b="1" dirty="0"/>
              <a:t>Perfil etario:</a:t>
            </a:r>
            <a:endParaRPr lang="es-ES" dirty="0"/>
          </a:p>
          <a:p>
            <a:pPr lvl="1"/>
            <a:r>
              <a:rPr lang="es-ES" b="1" dirty="0"/>
              <a:t>Mayor incidencia</a:t>
            </a:r>
            <a:r>
              <a:rPr lang="es-ES" dirty="0"/>
              <a:t> en </a:t>
            </a:r>
            <a:r>
              <a:rPr lang="es-ES" b="1" dirty="0"/>
              <a:t>personas de mediana edad</a:t>
            </a:r>
            <a:r>
              <a:rPr lang="es-ES" dirty="0"/>
              <a:t>.</a:t>
            </a:r>
          </a:p>
          <a:p>
            <a:r>
              <a:rPr lang="es-ES" b="1" dirty="0"/>
              <a:t>Implicación general:</a:t>
            </a:r>
            <a:endParaRPr lang="es-ES" dirty="0"/>
          </a:p>
          <a:p>
            <a:pPr lvl="1"/>
            <a:r>
              <a:rPr lang="es-ES" dirty="0"/>
              <a:t>Abordaje </a:t>
            </a:r>
            <a:r>
              <a:rPr lang="es-ES" b="1" dirty="0"/>
              <a:t>integral</a:t>
            </a:r>
            <a:r>
              <a:rPr lang="es-ES" dirty="0"/>
              <a:t> del fenómeno:</a:t>
            </a:r>
          </a:p>
          <a:p>
            <a:pPr lvl="2"/>
            <a:r>
              <a:rPr lang="es-ES" b="1" dirty="0"/>
              <a:t>Iniciativas preventivas</a:t>
            </a:r>
            <a:r>
              <a:rPr lang="es-ES" dirty="0"/>
              <a:t> basadas en evidencia,</a:t>
            </a:r>
          </a:p>
          <a:p>
            <a:pPr lvl="2"/>
            <a:r>
              <a:rPr lang="es-ES" b="1" dirty="0"/>
              <a:t>Refuerzo de sistemas de apoyo</a:t>
            </a:r>
            <a:r>
              <a:rPr lang="es-ES" dirty="0"/>
              <a:t> a población de riesgo,</a:t>
            </a:r>
          </a:p>
          <a:p>
            <a:pPr lvl="2"/>
            <a:r>
              <a:rPr lang="es-ES" dirty="0"/>
              <a:t>Foco en </a:t>
            </a:r>
            <a:r>
              <a:rPr lang="es-ES" b="1" dirty="0"/>
              <a:t>grupos prioritarios</a:t>
            </a:r>
            <a:r>
              <a:rPr lang="es-ES" dirty="0"/>
              <a:t> (según sexo/edad/nacionalidad).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10078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A1F567-AA6E-19CE-E63F-8D65AF96B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Apoyo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310683-BA44-15B0-646F-18E7E8834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Esta presentación aborda un tema extremadamente sensible: la conducta suicida.</a:t>
            </a:r>
          </a:p>
          <a:p>
            <a:r>
              <a:rPr lang="es-ES" dirty="0"/>
              <a:t>La UV cuenta con la Guía de Actuación ante Conductas Suicidas en el Estudiantado, que incluye protocolos para identificar señales de alerta, actuación y recursos de apoyo. </a:t>
            </a:r>
            <a:r>
              <a:rPr lang="es-ES" dirty="0">
                <a:hlinkClick r:id="rId2"/>
              </a:rPr>
              <a:t>GCSE</a:t>
            </a:r>
            <a:endParaRPr lang="es-ES" dirty="0"/>
          </a:p>
          <a:p>
            <a:r>
              <a:rPr lang="es-ES" dirty="0"/>
              <a:t>En España, está disponible la línea gratuita de atención ante la conducta suicida: </a:t>
            </a:r>
            <a:r>
              <a:rPr lang="es-ES" b="1" dirty="0"/>
              <a:t>024</a:t>
            </a:r>
          </a:p>
          <a:p>
            <a:r>
              <a:rPr lang="es-ES" dirty="0"/>
              <a:t>En la Comunidad Valenciana funciona también el Teléfono de la Esperanza con el número: </a:t>
            </a:r>
            <a:r>
              <a:rPr lang="es-ES" b="1" dirty="0"/>
              <a:t>717 003 717</a:t>
            </a:r>
            <a:r>
              <a:rPr lang="es-ES" dirty="0"/>
              <a:t>. </a:t>
            </a:r>
          </a:p>
          <a:p>
            <a:r>
              <a:rPr lang="es-ES" dirty="0"/>
              <a:t>Si tú o alguien de tu entorno está en riesgo, </a:t>
            </a:r>
            <a:r>
              <a:rPr lang="es-ES" b="1" dirty="0"/>
              <a:t>pregunta, acompaña, escucha sin juzgar</a:t>
            </a:r>
            <a:r>
              <a:rPr lang="es-ES" dirty="0"/>
              <a:t> y dirígete a los recursos mencionados.</a:t>
            </a:r>
          </a:p>
          <a:p>
            <a:r>
              <a:rPr lang="es-ES" dirty="0"/>
              <a:t>No dudes en acudir a ayuda profesional.</a:t>
            </a:r>
          </a:p>
        </p:txBody>
      </p:sp>
    </p:spTree>
    <p:extLst>
      <p:ext uri="{BB962C8B-B14F-4D97-AF65-F5344CB8AC3E}">
        <p14:creationId xmlns:p14="http://schemas.microsoft.com/office/powerpoint/2010/main" val="3152509596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483</Words>
  <Application>Microsoft Office PowerPoint</Application>
  <PresentationFormat>Panorámica</PresentationFormat>
  <Paragraphs>86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5" baseType="lpstr">
      <vt:lpstr>Agency FB</vt:lpstr>
      <vt:lpstr>Arial</vt:lpstr>
      <vt:lpstr>Neue Haas Grotesk Text Pro</vt:lpstr>
      <vt:lpstr>VanillaVTI</vt:lpstr>
      <vt:lpstr>Análisis de los Suicidios Registrados en España en el Periodo 2014–2023</vt:lpstr>
      <vt:lpstr>Índice</vt:lpstr>
      <vt:lpstr>Introducción </vt:lpstr>
      <vt:lpstr>Método</vt:lpstr>
      <vt:lpstr>Datos y Codificación</vt:lpstr>
      <vt:lpstr>Datos y Codificación</vt:lpstr>
      <vt:lpstr>Tidy</vt:lpstr>
      <vt:lpstr>Control de Outilers</vt:lpstr>
      <vt:lpstr>Control de Outilers</vt:lpstr>
      <vt:lpstr>Evolución Anual</vt:lpstr>
      <vt:lpstr>Distribución por Meses</vt:lpstr>
      <vt:lpstr>Sexo</vt:lpstr>
      <vt:lpstr>Sexo - Wilcoxon</vt:lpstr>
      <vt:lpstr>Nacionalidad</vt:lpstr>
      <vt:lpstr>Nacionalidad - Wilcoxon</vt:lpstr>
      <vt:lpstr>Edad y Sexo</vt:lpstr>
      <vt:lpstr>CCAA - Totales</vt:lpstr>
      <vt:lpstr>CCAA – Correlación Población</vt:lpstr>
      <vt:lpstr>CCAA – Cada 100.000 Hab</vt:lpstr>
      <vt:lpstr>Conclusiones</vt:lpstr>
      <vt:lpstr>Apoyo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Mario Martínez Guillén</dc:creator>
  <cp:lastModifiedBy>Fabián Calvo Castillo</cp:lastModifiedBy>
  <cp:revision>5</cp:revision>
  <dcterms:created xsi:type="dcterms:W3CDTF">2025-11-09T14:00:27Z</dcterms:created>
  <dcterms:modified xsi:type="dcterms:W3CDTF">2025-11-09T19:15:29Z</dcterms:modified>
</cp:coreProperties>
</file>